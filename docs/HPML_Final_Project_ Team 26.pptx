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nsen Shi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C6FF0C-0B2C-470D-8E43-EF8CF26CBB4E}">
  <a:tblStyle styleId="{CFC6FF0C-0B2C-470D-8E43-EF8CF26CBB4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04T22:02:50.582">
    <p:pos x="6000" y="0"/>
    <p:text>check if these are the ones that should be emphasized the most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c1de8a44d_39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dc1de8a44d_39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dc1de8a44d_39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2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BCC4"/>
                </a:solidFill>
                <a:latin typeface="Calibri"/>
                <a:ea typeface="Calibri"/>
                <a:cs typeface="Calibri"/>
                <a:sym typeface="Calibri"/>
              </a:rPr>
              <a:t>HPML Final Project  ·  Spring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SiMamba: Simpson-Style Discretization for Mamba-3 SISO Models</a:t>
            </a:r>
            <a:endParaRPr b="1" sz="5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33832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2000"/>
              <a:buFont typeface="Calibri"/>
              <a:buNone/>
            </a:pPr>
            <a:r>
              <a:rPr sz="1600" b="0">
                <a:solidFill>
                  <a:srgbClr val="475569"/>
                </a:solidFill>
              </a:rPr>
              <a:t>Reproducible negative result: Simpson-style SISO dynamics train stably, but do not beat matched trapezoid or Mamba2; decode is near parity while prefill needs fused-kernel work.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4572000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400" b="0">
                <a:solidFill>
                  <a:srgbClr val="334155"/>
                </a:solidFill>
              </a:rPr>
              <a:t>Team 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400" b="0">
                <a:solidFill>
                  <a:srgbClr val="334155"/>
                </a:solidFill>
              </a:rPr>
              <a:t>Soumil Baldota · ssb2234</a:t>
            </a:r>
          </a:p>
          <a:p>
            <a:r>
              <a:rPr sz="1400" b="0">
                <a:solidFill>
                  <a:srgbClr val="334155"/>
                </a:solidFill>
              </a:rPr>
              <a:t>Ansen Shia · as8008</a:t>
            </a:r>
          </a:p>
          <a:p>
            <a:r>
              <a:rPr sz="1400" b="0">
                <a:solidFill>
                  <a:srgbClr val="334155"/>
                </a:solidFill>
              </a:rPr>
              <a:t>David Zhang · dwz2107</a:t>
            </a:r>
          </a:p>
        </p:txBody>
      </p:sp>
      <p:sp>
        <p:nvSpPr>
          <p:cNvPr id="20" name="Google Shape;20;p3"/>
          <p:cNvSpPr/>
          <p:nvPr/>
        </p:nvSpPr>
        <p:spPr>
          <a:xfrm>
            <a:off x="6400800" y="4572000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150">
                <a:solidFill>
                  <a:srgbClr val="334155"/>
                </a:solidFill>
              </a:rPr>
              <a:t>GitHub: github.com/hpmls26/simamba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150">
                <a:solidFill>
                  <a:srgbClr val="334155"/>
                </a:solidFill>
              </a:rPr>
              <a:t>Tracking: Weights &amp; Biases project ssb2234-columbia/simamba</a:t>
            </a:r>
          </a:p>
          <a:p>
            <a:r>
              <a:rPr sz="1150">
                <a:solidFill>
                  <a:srgbClr val="334155"/>
                </a:solidFill>
              </a:rPr>
              <a:t>Artifacts: Hugging Face repos soumil1/simamba-midpoint-10m-slimpajama-500m and soumil1/mamba2-10m-slimpajama-500m</a:t>
            </a:r>
          </a:p>
        </p:txBody>
      </p:sp>
      <p:sp>
        <p:nvSpPr>
          <p:cNvPr id="21" name="Google Shape;21;p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Dr. Kaoutar El Maghraoui  ·  Columbia University  ·  Week of May 4,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Motivation &amp;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4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/>
          <p:nvPr/>
        </p:nvSpPr>
        <p:spPr>
          <a:xfrm>
            <a:off x="457200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100" b="0">
                <a:solidFill>
                  <a:srgbClr val="475569"/>
                </a:solidFill>
              </a:rPr>
              <a:t>Goal for the project: test whether a higher-order SISO update is actually useful for small language models on constrained hardware.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18288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sz="1420" b="0">
                <a:solidFill>
                  <a:srgbClr val="334155"/>
                </a:solidFill>
              </a:rPr>
              <a:t>• Mamba-style SSMs replace quadratic attention with linear recurrent scans.</a:t>
            </a:r>
            <a:endParaRPr b="0" i="0"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420" b="0">
                <a:solidFill>
                  <a:srgbClr val="334155"/>
                </a:solidFill>
              </a:rPr>
              <a:t>• Their quality and stability depend on the discrete state update.</a:t>
            </a:r>
          </a:p>
          <a:p/>
          <a:p>
            <a:r>
              <a:rPr sz="1420" b="0">
                <a:solidFill>
                  <a:srgbClr val="334155"/>
                </a:solidFill>
              </a:rPr>
              <a:t>• Mamba-3 SISO makes inference attractive, but kernel design and numerical stability are coupled.</a:t>
            </a:r>
          </a:p>
          <a:p/>
          <a:p>
            <a:r>
              <a:rPr sz="1420" b="0">
                <a:solidFill>
                  <a:srgbClr val="334155"/>
                </a:solidFill>
              </a:rPr>
              <a:t>• Higher-order quadrature is plausible, but language tokens are not smooth ODE inputs.</a:t>
            </a:r>
          </a:p>
        </p:txBody>
      </p:sp>
      <p:sp>
        <p:nvSpPr>
          <p:cNvPr id="32" name="Google Shape;32;p4"/>
          <p:cNvSpPr/>
          <p:nvPr/>
        </p:nvSpPr>
        <p:spPr>
          <a:xfrm>
            <a:off x="6263640" y="18288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20" b="0">
                <a:solidFill>
                  <a:srgbClr val="334155"/>
                </a:solidFill>
              </a:rPr>
              <a:t>• Implement a Mamba-3-inspired Simamba mixer with a width-3 Simpson recurrence.</a:t>
            </a:r>
            <a:endParaRPr b="0" i="1"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420" b="0">
                <a:solidFill>
                  <a:srgbClr val="334155"/>
                </a:solidFill>
              </a:rPr>
              <a:t>• Compare it to a matched trapezoid control and Mamba2 on identical data/schedule.</a:t>
            </a:r>
          </a:p>
          <a:p/>
          <a:p>
            <a:r>
              <a:rPr sz="1420" b="0">
                <a:solidFill>
                  <a:srgbClr val="334155"/>
                </a:solidFill>
              </a:rPr>
              <a:t>• Profile prefill/decode latency, memory, throughput, and training stability on one V100.</a:t>
            </a:r>
          </a:p>
          <a:p/>
          <a:p>
            <a:r>
              <a:rPr sz="1420" b="0">
                <a:solidFill>
                  <a:srgbClr val="334155"/>
                </a:solidFill>
              </a:rPr>
              <a:t>• Report the result honestly, even if the hypothesis fails.</a:t>
            </a:r>
          </a:p>
        </p:txBody>
      </p:sp>
      <p:sp>
        <p:nvSpPr>
          <p:cNvPr id="34" name="Google Shape;34;p4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1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Technical Approach — Model &amp; Data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5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5"/>
          <p:cNvSpPr/>
          <p:nvPr/>
        </p:nvSpPr>
        <p:spPr>
          <a:xfrm>
            <a:off x="457200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100" b="0">
                <a:solidFill>
                  <a:srgbClr val="475569"/>
                </a:solidFill>
              </a:rPr>
              <a:t>Controlled 10M-parameter language-model runs; same data, seed, validation spans, and training schedule across ablations.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57200" y="1828800"/>
            <a:ext cx="3584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685800" y="2011680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85800" y="2468880"/>
            <a:ext cx="31272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30" b="0">
                <a:solidFill>
                  <a:srgbClr val="334155"/>
                </a:solidFill>
              </a:rPr>
              <a:t>• Decoder-only MambaLMHeadModel</a:t>
            </a:r>
            <a:endParaRPr b="0"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230" b="0">
                <a:solidFill>
                  <a:srgbClr val="334155"/>
                </a:solidFill>
              </a:rPr>
              <a:t>• 8 layers, d_model=160, expand=2 → d_inner=320</a:t>
            </a:r>
          </a:p>
          <a:p/>
          <a:p>
            <a:r>
              <a:rPr sz="1230" b="0">
                <a:solidFill>
                  <a:srgbClr val="334155"/>
                </a:solidFill>
              </a:rPr>
              <a:t>• 10 heads, headdim=32, d_state=64</a:t>
            </a:r>
          </a:p>
          <a:p/>
          <a:p>
            <a:r>
              <a:rPr sz="1230" b="0">
                <a:solidFill>
                  <a:srgbClr val="334155"/>
                </a:solidFill>
              </a:rPr>
              <a:t>• Seq length 128, tied embeddings</a:t>
            </a:r>
          </a:p>
          <a:p/>
          <a:p>
            <a:r>
              <a:rPr sz="1230" b="0">
                <a:solidFill>
                  <a:srgbClr val="334155"/>
                </a:solidFill>
              </a:rPr>
              <a:t>• Simamba: Simpson or matched trapezoid SISO core</a:t>
            </a:r>
          </a:p>
        </p:txBody>
      </p:sp>
      <p:sp>
        <p:nvSpPr>
          <p:cNvPr id="47" name="Google Shape;47;p5"/>
          <p:cNvSpPr/>
          <p:nvPr/>
        </p:nvSpPr>
        <p:spPr>
          <a:xfrm>
            <a:off x="4315968" y="1828800"/>
            <a:ext cx="3584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544568" y="2011680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544568" y="2468880"/>
            <a:ext cx="31272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30" b="0">
                <a:solidFill>
                  <a:srgbClr val="334155"/>
                </a:solidFill>
              </a:rPr>
              <a:t>• SlimPajama-627B subset</a:t>
            </a:r>
            <a:endParaRPr b="0"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230" b="0">
                <a:solidFill>
                  <a:srgbClr val="334155"/>
                </a:solidFill>
              </a:rPr>
              <a:t>• 500M train / 50M validation tokens</a:t>
            </a:r>
          </a:p>
          <a:p/>
          <a:p>
            <a:r>
              <a:rPr sz="1230" b="0">
                <a:solidFill>
                  <a:srgbClr val="334155"/>
                </a:solidFill>
              </a:rPr>
              <a:t>• GPT-NeoX tokenizer, uint16 memmaps</a:t>
            </a:r>
          </a:p>
          <a:p/>
          <a:p>
            <a:r>
              <a:rPr sz="1230" b="0">
                <a:solidFill>
                  <a:srgbClr val="334155"/>
                </a:solidFill>
              </a:rPr>
              <a:t>• Fixed validation spans for comparability</a:t>
            </a:r>
          </a:p>
          <a:p/>
          <a:p>
            <a:r>
              <a:rPr sz="1230" b="0">
                <a:solidFill>
                  <a:srgbClr val="334155"/>
                </a:solidFill>
              </a:rPr>
              <a:t>• No-replacement training block sampling</a:t>
            </a:r>
          </a:p>
        </p:txBody>
      </p:sp>
      <p:sp>
        <p:nvSpPr>
          <p:cNvPr id="50" name="Google Shape;50;p5"/>
          <p:cNvSpPr/>
          <p:nvPr/>
        </p:nvSpPr>
        <p:spPr>
          <a:xfrm>
            <a:off x="8174736" y="1828800"/>
            <a:ext cx="3584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8403336" y="2011680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403336" y="2468880"/>
            <a:ext cx="31272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30" b="0">
                <a:solidFill>
                  <a:srgbClr val="334155"/>
                </a:solidFill>
              </a:rPr>
              <a:t>• Single NVIDIA Tesla V100-SXM2 16GB</a:t>
            </a:r>
            <a:endParaRPr b="0"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230" b="0">
                <a:solidFill>
                  <a:srgbClr val="334155"/>
                </a:solidFill>
              </a:rPr>
              <a:t>• Global batch 64, micro-batch 8</a:t>
            </a:r>
          </a:p>
          <a:p/>
          <a:p>
            <a:r>
              <a:rPr sz="1230" b="0">
                <a:solidFill>
                  <a:srgbClr val="334155"/>
                </a:solidFill>
              </a:rPr>
              <a:t>• AdamW + cosine LR decay</a:t>
            </a:r>
          </a:p>
          <a:p/>
          <a:p>
            <a:r>
              <a:rPr sz="1230" b="0">
                <a:solidFill>
                  <a:srgbClr val="334155"/>
                </a:solidFill>
              </a:rPr>
              <a:t>• fp32 master parameters for SSM stability</a:t>
            </a:r>
          </a:p>
          <a:p/>
          <a:p>
            <a:r>
              <a:rPr sz="1230" b="0">
                <a:solidFill>
                  <a:srgbClr val="334155"/>
                </a:solidFill>
              </a:rPr>
              <a:t>• W&amp;B logs + checkpoint manifests</a:t>
            </a:r>
          </a:p>
        </p:txBody>
      </p:sp>
      <p:sp>
        <p:nvSpPr>
          <p:cNvPr id="53" name="Google Shape;53;p5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2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Technical Approach — 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6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6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3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Picture 63" descr="simamba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971" y="1268967"/>
            <a:ext cx="8764055" cy="55543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Technical Approach — Optimizations Applied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7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7"/>
          <p:cNvSpPr/>
          <p:nvPr/>
        </p:nvSpPr>
        <p:spPr>
          <a:xfrm>
            <a:off x="457200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100" b="0">
                <a:solidFill>
                  <a:srgbClr val="475569"/>
                </a:solidFill>
              </a:rPr>
              <a:t>The work became a controlled systems-and-modeling study after the original multi-GPU plan was reduced to one V100.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960120" y="1874520"/>
            <a:ext cx="1069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</a:rPr>
              <a:t>Simpson-style SISO Dynamics</a:t>
            </a:r>
            <a:endParaRPr b="1" i="0" sz="2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960120" y="2377440"/>
            <a:ext cx="10698600" cy="7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334155"/>
                </a:solidFill>
              </a:rPr>
              <a:t>Width-3 causal recurrence with a learned correction term; tests whether Simpson-like history improves state updates over trapezoid.</a:t>
            </a:r>
            <a:endParaRPr b="0" i="0" sz="1400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960120" y="3291840"/>
            <a:ext cx="1069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</a:rPr>
              <a:t>Stability + Reproducibility Fixes</a:t>
            </a:r>
            <a:endParaRPr b="1" i="0" sz="2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960120" y="3794760"/>
            <a:ext cx="10698600" cy="7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334155"/>
                </a:solidFill>
              </a:rPr>
              <a:t>fp32 parameters, cosine decay, nonfinite-step checks, checkpoint manifests, fixed validation spans, and no-replacement sampling.</a:t>
            </a:r>
            <a:endParaRPr b="0" i="0" sz="1400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57200" y="4709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960120" y="4709160"/>
            <a:ext cx="1069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</a:rPr>
              <a:t>Matched Controls + Export Path</a:t>
            </a:r>
            <a:endParaRPr b="1" i="0" sz="2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960120" y="5212080"/>
            <a:ext cx="10698600" cy="7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334155"/>
                </a:solidFill>
              </a:rPr>
              <a:t>Added trapezoid and local-conv controls, V100 benchmark plots, compression eval, Hugging Face export, and vLLM Transformers-backend serving path.</a:t>
            </a:r>
            <a:endParaRPr b="0" i="0" sz="1400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4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Profiling Methodology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8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8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100" b="0">
                <a:solidFill>
                  <a:srgbClr val="475569"/>
                </a:solidFill>
              </a:rPr>
              <a:t>We measured both model quality and system behavior, because the scientific result and deployment result diverged.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sz="1400" b="0">
                <a:solidFill>
                  <a:srgbClr val="334155"/>
                </a:solidFill>
              </a:rPr>
              <a:t>• scripts/train_simamba_lm.py structured logs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400" b="0">
                <a:solidFill>
                  <a:srgbClr val="334155"/>
                </a:solidFill>
              </a:rPr>
              <a:t>• Weights &amp; Biases local histories</a:t>
            </a:r>
          </a:p>
          <a:p/>
          <a:p>
            <a:r>
              <a:rPr sz="1400" b="0">
                <a:solidFill>
                  <a:srgbClr val="334155"/>
                </a:solidFill>
              </a:rPr>
              <a:t>• benchmarks/benchmark_simamba_siso.py</a:t>
            </a:r>
          </a:p>
          <a:p/>
          <a:p>
            <a:r>
              <a:rPr sz="1400" b="0">
                <a:solidFill>
                  <a:srgbClr val="334155"/>
                </a:solidFill>
              </a:rPr>
              <a:t>• scripts/generate_hpml_paper_assets.py</a:t>
            </a:r>
          </a:p>
          <a:p/>
          <a:p>
            <a:r>
              <a:rPr sz="1400" b="0">
                <a:solidFill>
                  <a:srgbClr val="334155"/>
                </a:solidFill>
              </a:rPr>
              <a:t>• Checkpoint manifests and compression JSONL</a:t>
            </a:r>
          </a:p>
          <a:p/>
          <a:p>
            <a:r>
              <a:rPr sz="1400" b="0">
                <a:solidFill>
                  <a:srgbClr val="334155"/>
                </a:solidFill>
              </a:rPr>
              <a:t>• Hugging Face/vLLM export smoke checks</a:t>
            </a:r>
          </a:p>
        </p:txBody>
      </p:sp>
      <p:sp>
        <p:nvSpPr>
          <p:cNvPr id="94" name="Google Shape;94;p8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Metrics captured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sz="1400" b="0">
                <a:solidFill>
                  <a:srgbClr val="334155"/>
                </a:solidFill>
              </a:rPr>
              <a:t>• Fixed validation loss and smoothed train loss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400" b="0">
                <a:solidFill>
                  <a:srgbClr val="334155"/>
                </a:solidFill>
              </a:rPr>
              <a:t>• Pre/post-clip gradient norms and nonfinite skips</a:t>
            </a:r>
          </a:p>
          <a:p/>
          <a:p>
            <a:r>
              <a:rPr sz="1400" b="0">
                <a:solidFill>
                  <a:srgbClr val="334155"/>
                </a:solidFill>
              </a:rPr>
              <a:t>• Training tokens/sec on V100</a:t>
            </a:r>
          </a:p>
          <a:p/>
          <a:p>
            <a:r>
              <a:rPr sz="1400" b="0">
                <a:solidFill>
                  <a:srgbClr val="334155"/>
                </a:solidFill>
              </a:rPr>
              <a:t>• SISO prefill latency, decode-step latency, throughput</a:t>
            </a:r>
          </a:p>
          <a:p/>
          <a:p>
            <a:r>
              <a:rPr sz="1400" b="0">
                <a:solidFill>
                  <a:srgbClr val="334155"/>
                </a:solidFill>
              </a:rPr>
              <a:t>• Peak memory for prefill/decode cases</a:t>
            </a:r>
          </a:p>
          <a:p/>
          <a:p>
            <a:r>
              <a:rPr sz="1400" b="0">
                <a:solidFill>
                  <a:srgbClr val="334155"/>
                </a:solidFill>
              </a:rPr>
              <a:t>• Post-training int8/int4/pruning loss deltas</a:t>
            </a:r>
          </a:p>
        </p:txBody>
      </p:sp>
      <p:sp>
        <p:nvSpPr>
          <p:cNvPr id="96" name="Google Shape;96;p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5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Results — Headline Numbers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9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9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100" b="0">
                <a:solidFill>
                  <a:srgbClr val="475569"/>
                </a:solidFill>
              </a:rPr>
              <a:t>Headline: the Simpson hypothesis was not validated, but the controls identify why and where the system bottleneck 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457200" y="2286000"/>
            <a:ext cx="35844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6400"/>
              <a:buFont typeface="Calibri"/>
              <a:buNone/>
            </a:pPr>
            <a:r>
              <a:rPr sz="4200" b="1">
                <a:solidFill>
                  <a:srgbClr val="4C78A8"/>
                </a:solidFill>
              </a:rPr>
              <a:t>1.08×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57200" y="3840480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sz="1500" b="1">
                <a:solidFill>
                  <a:srgbClr val="111827"/>
                </a:solidFill>
              </a:rPr>
              <a:t>decode-step overhead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57200" y="4251960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sz="1050" b="0">
                <a:solidFill>
                  <a:srgbClr val="475569"/>
                </a:solidFill>
              </a:rPr>
              <a:t>Simamba vs Mamba-3: 0.0173 ms vs 0.0160 ms in B4/P1024/G256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315968" y="2286000"/>
            <a:ext cx="35844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6400"/>
              <a:buFont typeface="Calibri"/>
              <a:buNone/>
            </a:pPr>
            <a:r>
              <a:rPr sz="4200" b="1">
                <a:solidFill>
                  <a:srgbClr val="54A24B"/>
                </a:solidFill>
              </a:rPr>
              <a:t>25.8%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4315968" y="3840480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sz="1500" b="1">
                <a:solidFill>
                  <a:srgbClr val="111827"/>
                </a:solidFill>
              </a:rPr>
              <a:t>lower prefill peak memory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315968" y="4251960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sz="1050" b="0">
                <a:solidFill>
                  <a:srgbClr val="475569"/>
                </a:solidFill>
              </a:rPr>
              <a:t>124.2 MB vs 167.4 MB in B4/P1024/G256; latency still dominates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8174736" y="2286000"/>
            <a:ext cx="35844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6400"/>
              <a:buFont typeface="Calibri"/>
              <a:buNone/>
            </a:pPr>
            <a:r>
              <a:rPr sz="4200" b="1">
                <a:solidFill>
                  <a:srgbClr val="F58518"/>
                </a:solidFill>
              </a:rPr>
              <a:t>4.9178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8174736" y="3840480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sz="1500" b="1">
                <a:solidFill>
                  <a:srgbClr val="111827"/>
                </a:solidFill>
              </a:rPr>
              <a:t>best Simamba val loss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8174736" y="4251960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sz="1050" b="0">
                <a:solidFill>
                  <a:srgbClr val="475569"/>
                </a:solidFill>
              </a:rPr>
              <a:t>Mamba2 best: 4.8625; matched trapezoid: 4.9326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sz="1250" b="0">
                <a:solidFill>
                  <a:srgbClr val="475569"/>
                </a:solidFill>
              </a:rPr>
              <a:t>Measured on one Tesla V100 16GB. Prefill was 410×–777× slower than the Mamba-3 fused path, so fused-kernel work is required before production claims.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6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Results — Quality Curves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10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10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100" b="0">
                <a:solidFill>
                  <a:srgbClr val="475569"/>
                </a:solidFill>
              </a:rPr>
              <a:t>500M-token comparison from locally persisted W&amp;B/training histories.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7863840" y="18288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7863840" y="2286000"/>
            <a:ext cx="39319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sz="1320" b="0">
                <a:solidFill>
                  <a:srgbClr val="334155"/>
                </a:solidFill>
              </a:rPr>
              <a:t>Takeaway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320" b="0">
                <a:solidFill>
                  <a:srgbClr val="334155"/>
                </a:solidFill>
              </a:rPr>
              <a:t>• Mamba2 is the strongest overall baseline.</a:t>
            </a:r>
          </a:p>
          <a:p/>
          <a:p>
            <a:r>
              <a:rPr sz="1320" b="0">
                <a:solidFill>
                  <a:srgbClr val="334155"/>
                </a:solidFill>
              </a:rPr>
              <a:t>• Simpson+midpoint reaches the best Simamba checkpoint, but validation degrades later.</a:t>
            </a:r>
          </a:p>
          <a:p/>
          <a:p>
            <a:r>
              <a:rPr sz="1320" b="0">
                <a:solidFill>
                  <a:srgbClr val="334155"/>
                </a:solidFill>
              </a:rPr>
              <a:t>• Matched trapezoid is competitive, so the Simpson correction is not yet a win.</a:t>
            </a:r>
          </a:p>
          <a:p/>
          <a:p>
            <a:r>
              <a:rPr sz="1320" b="0">
                <a:solidFill>
                  <a:srgbClr val="334155"/>
                </a:solidFill>
              </a:rPr>
              <a:t>• Gradient curves point to harder optimization from the negative lag-2 term.</a:t>
            </a:r>
          </a:p>
        </p:txBody>
      </p:sp>
      <p:sp>
        <p:nvSpPr>
          <p:cNvPr id="129" name="Google Shape;129;p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320" b="0">
                <a:solidFill>
                  <a:srgbClr val="334155"/>
                </a:solidFill>
              </a:rPr>
              <a:t>• Mamba2 is the strongest overall baseline.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320" b="0">
                <a:solidFill>
                  <a:srgbClr val="334155"/>
                </a:solidFill>
              </a:rPr>
              <a:t>• Simpson+midpoint reaches the best Simamba checkpoint, but validation degrades later.</a:t>
            </a:r>
          </a:p>
          <a:p/>
          <a:p>
            <a:r>
              <a:rPr sz="1320" b="0">
                <a:solidFill>
                  <a:srgbClr val="334155"/>
                </a:solidFill>
              </a:rPr>
              <a:t>• Matched trapezoid is competitive, so the Simpson correction is not yet a win.</a:t>
            </a:r>
          </a:p>
          <a:p/>
          <a:p>
            <a:r>
              <a:rPr sz="1320" b="0">
                <a:solidFill>
                  <a:srgbClr val="334155"/>
                </a:solidFill>
              </a:rPr>
              <a:t>• Gradient curves point to harder optimization from the negative lag-2 term.</a:t>
            </a:r>
          </a:p>
        </p:txBody>
      </p:sp>
      <p:sp>
        <p:nvSpPr>
          <p:cNvPr id="130" name="Google Shape;130;p10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7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Picture 130" descr="wandb_main_500m_val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86415"/>
            <a:ext cx="7132320" cy="41081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Profiler Evidence — Kernel Bottleneck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1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11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100" b="0">
                <a:solidFill>
                  <a:srgbClr val="475569"/>
                </a:solidFill>
              </a:rPr>
              <a:t>Repository SISO benchmark separates prefill from decode; this is where the implementation gap is clearest.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8458200" y="18288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sz="1700" b="1">
                <a:solidFill>
                  <a:srgbClr val="111827"/>
                </a:solidFill>
              </a:rPr>
              <a:t>What to point at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8458200" y="2286000"/>
            <a:ext cx="32918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sz="1250" b="0">
                <a:solidFill>
                  <a:srgbClr val="334155"/>
                </a:solidFill>
              </a:rPr>
              <a:t>• Decode step is close: about 1.08× slower than Mamba-3.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250" b="0">
                <a:solidFill>
                  <a:srgbClr val="334155"/>
                </a:solidFill>
              </a:rPr>
              <a:t>• Prefill is not competitive: 410×–777× slower in benchmark cases.</a:t>
            </a:r>
          </a:p>
          <a:p/>
          <a:p>
            <a:r>
              <a:rPr sz="1250" b="0">
                <a:solidFill>
                  <a:srgbClr val="334155"/>
                </a:solidFill>
              </a:rPr>
              <a:t>• Current path still has too much Python/memory traffic; needs a fused prefill kernel.</a:t>
            </a:r>
          </a:p>
          <a:p/>
          <a:p>
            <a:r>
              <a:rPr sz="1250" b="0">
                <a:solidFill>
                  <a:srgbClr val="334155"/>
                </a:solidFill>
              </a:rPr>
              <a:t>• Memory can be comparable or lower, but latency is the blocking metric.</a:t>
            </a:r>
          </a:p>
        </p:txBody>
      </p:sp>
      <p:sp>
        <p:nvSpPr>
          <p:cNvPr id="143" name="Google Shape;143;p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8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Picture 144" descr="simamba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32842"/>
            <a:ext cx="7909560" cy="36609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Demo / Visualization — Reproducible Artifacts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2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2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100" b="0">
                <a:solidFill>
                  <a:srgbClr val="475569"/>
                </a:solidFill>
              </a:rPr>
              <a:t>For a 1-minute demo, show the exported checkpoints and regenerate the paper figures from local run histories.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9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Picture 157" descr="summary_best_val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78482"/>
            <a:ext cx="5212080" cy="3146756"/>
          </a:xfrm>
          <a:prstGeom prst="rect">
            <a:avLst/>
          </a:prstGeom>
        </p:spPr>
      </p:pic>
      <p:sp>
        <p:nvSpPr>
          <p:cNvPr id="159" name="Rounded Rectangle 158"/>
          <p:cNvSpPr/>
          <p:nvPr/>
        </p:nvSpPr>
        <p:spPr>
          <a:xfrm>
            <a:off x="6172200" y="1828800"/>
            <a:ext cx="5074920" cy="1234440"/>
          </a:xfrm>
          <a:prstGeom prst="roundRect">
            <a:avLst/>
          </a:prstGeom>
          <a:solidFill>
            <a:srgbClr val="EBF4FF"/>
          </a:solidFill>
          <a:ln w="13970">
            <a:solidFill>
              <a:srgbClr val="4C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1">
                <a:solidFill>
                  <a:srgbClr val="111827"/>
                </a:solidFill>
              </a:rPr>
              <a:t>Exported models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34155"/>
                </a:solidFill>
              </a:rPr>
              <a:t>soumil1/simamba-midpoint-10m-slimpajama-500m</a:t>
            </a:r>
            <a:br/>
            <a:r>
              <a:rPr sz="1050">
                <a:solidFill>
                  <a:srgbClr val="334155"/>
                </a:solidFill>
              </a:rPr>
              <a:t>soumil1/mamba2-10m-slimpajama-500m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172200" y="3246120"/>
            <a:ext cx="5074920" cy="1234440"/>
          </a:xfrm>
          <a:prstGeom prst="roundRect">
            <a:avLst/>
          </a:prstGeom>
          <a:solidFill>
            <a:srgbClr val="EDF7ED"/>
          </a:solidFill>
          <a:ln w="13970">
            <a:solidFill>
              <a:srgbClr val="54A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1">
                <a:solidFill>
                  <a:srgbClr val="111827"/>
                </a:solidFill>
              </a:rPr>
              <a:t>Serving path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34155"/>
                </a:solidFill>
              </a:rPr>
              <a:t>vLLM Transformers backend</a:t>
            </a:r>
            <a:br/>
            <a:r>
              <a:rPr sz="1050">
                <a:solidFill>
                  <a:srgbClr val="334155"/>
                </a:solidFill>
              </a:rPr>
              <a:t>--trust-remote-code --model-impl transformers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172200" y="4663440"/>
            <a:ext cx="5074920" cy="1097280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F58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300" b="1">
                <a:solidFill>
                  <a:srgbClr val="111827"/>
                </a:solidFill>
              </a:rPr>
              <a:t>Rebuild figures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334155"/>
                </a:solidFill>
              </a:rPr>
              <a:t>python scripts/generate_hpml_paper_assets.py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Lessons Learned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13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3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100" b="0">
                <a:solidFill>
                  <a:srgbClr val="475569"/>
                </a:solidFill>
              </a:rPr>
              <a:t>The most useful outcome is a controlled diagnosis, not a cherry-picked speedup claim.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What worked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sz="1320" b="0">
                <a:solidFill>
                  <a:srgbClr val="334155"/>
                </a:solidFill>
              </a:rPr>
              <a:t>• fp32 parameters + cosine decay eliminated nonfinite skips in controlled runs.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320" b="0">
                <a:solidFill>
                  <a:srgbClr val="334155"/>
                </a:solidFill>
              </a:rPr>
              <a:t>• Fixed validation spans made small loss differences interpretable.</a:t>
            </a:r>
          </a:p>
          <a:p/>
          <a:p>
            <a:r>
              <a:rPr sz="1320" b="0">
                <a:solidFill>
                  <a:srgbClr val="334155"/>
                </a:solidFill>
              </a:rPr>
              <a:t>• Matched trapezoid/local-conv controls separated discretization from architecture confounds.</a:t>
            </a:r>
          </a:p>
          <a:p/>
          <a:p>
            <a:r>
              <a:rPr sz="1320" b="0">
                <a:solidFill>
                  <a:srgbClr val="334155"/>
                </a:solidFill>
              </a:rPr>
              <a:t>• Decode path is close enough to justify more kernel work.</a:t>
            </a:r>
          </a:p>
        </p:txBody>
      </p:sp>
      <p:sp>
        <p:nvSpPr>
          <p:cNvPr id="168" name="Google Shape;168;p13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What didn't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sz="1320" b="0">
                <a:solidFill>
                  <a:srgbClr val="334155"/>
                </a:solidFill>
              </a:rPr>
              <a:t>• Unconstrained Simpson lag-2 correction produced noisier gradients and worse final validation.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320" b="0">
                <a:solidFill>
                  <a:srgbClr val="334155"/>
                </a:solidFill>
              </a:rPr>
              <a:t>• Prefill implementation is hundreds of times slower than the Mamba-3 fused path.</a:t>
            </a:r>
          </a:p>
          <a:p/>
          <a:p>
            <a:r>
              <a:rPr sz="1320" b="0">
                <a:solidFill>
                  <a:srgbClr val="334155"/>
                </a:solidFill>
              </a:rPr>
              <a:t>• Larger-model attempts were dominated by V100 memory/runtime pressure.</a:t>
            </a:r>
          </a:p>
          <a:p/>
          <a:p>
            <a:r>
              <a:rPr sz="1320" b="0">
                <a:solidFill>
                  <a:srgbClr val="334155"/>
                </a:solidFill>
              </a:rPr>
              <a:t>• Local mixing mattered more than the initial Mamba2-vs-Simamba comparison suggested.</a:t>
            </a:r>
          </a:p>
        </p:txBody>
      </p:sp>
      <p:sp>
        <p:nvSpPr>
          <p:cNvPr id="170" name="Google Shape;170;p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10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Next Steps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4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4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100" b="0">
                <a:solidFill>
                  <a:srgbClr val="475569"/>
                </a:solidFill>
              </a:rPr>
              <a:t>Concrete follow-ups before scaling beyond 10M parameters.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457200" y="2011674"/>
            <a:ext cx="112746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Char char="•"/>
            </a:pPr>
            <a:r>
              <a:rPr sz="1600" b="0">
                <a:solidFill>
                  <a:srgbClr val="334155"/>
                </a:solidFill>
              </a:rPr>
              <a:t>• Reparameterize or anneal the Simpson correction so the negative lag-2 term cannot dominate early training.</a:t>
            </a:r>
            <a:endParaRPr sz="18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/>
          <a:p>
            <a:r>
              <a:rPr sz="1600" b="0">
                <a:solidFill>
                  <a:srgbClr val="334155"/>
                </a:solidFill>
              </a:rPr>
              <a:t>• Build a fused local-conv + SISO prefill kernel; current prefill latency blocks deployment.</a:t>
            </a:r>
          </a:p>
          <a:p/>
          <a:p>
            <a:r>
              <a:rPr sz="1600" b="0">
                <a:solidFill>
                  <a:srgbClr val="334155"/>
                </a:solidFill>
              </a:rPr>
              <a:t>• Add a V100-compatible benchmark fallback for kernels requiring newer Triton descriptor APIs.</a:t>
            </a:r>
          </a:p>
          <a:p/>
          <a:p>
            <a:r>
              <a:rPr sz="1600" b="0">
                <a:solidFill>
                  <a:srgbClr val="334155"/>
                </a:solidFill>
              </a:rPr>
              <a:t>• Run multi-seed 50M-token comparisons only after a single-seed Simpson variant beats matched trapezoid.</a:t>
            </a:r>
          </a:p>
          <a:p/>
          <a:p>
            <a:r>
              <a:rPr sz="1600" b="0">
                <a:solidFill>
                  <a:srgbClr val="334155"/>
                </a:solidFill>
              </a:rPr>
              <a:t>• Explore prefix/state caching as a future memory advantage over Transformer KV caching.</a:t>
            </a:r>
          </a:p>
          <a:p/>
          <a:p>
            <a:r>
              <a:rPr sz="1600" b="0">
                <a:solidFill>
                  <a:srgbClr val="334155"/>
                </a:solidFill>
              </a:rPr>
              <a:t>• Add finetuning-aware int4/pruning experiments instead of one-shot perturbations.</a:t>
            </a:r>
          </a:p>
        </p:txBody>
      </p:sp>
      <p:sp>
        <p:nvSpPr>
          <p:cNvPr id="181" name="Google Shape;181;p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11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Teamwork &amp; Contributions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5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5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100" b="0">
                <a:solidFill>
                  <a:srgbClr val="475569"/>
                </a:solidFill>
              </a:rPr>
              <a:t>Required contribution summary for Team 26.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15"/>
          <p:cNvGraphicFramePr/>
          <p:nvPr/>
        </p:nvGraphicFramePr>
        <p:xfrm>
          <a:off x="502920" y="1783080"/>
          <a:ext cx="11201400" cy="3886200"/>
        </p:xfrm>
        <a:graphic>
          <a:graphicData uri="http://schemas.openxmlformats.org/drawingml/2006/table">
            <a:tbl>
              <a:tblPr>
                <a:noFill/>
                <a:tableStyleId>{CFC6FF0C-0B2C-470D-8E43-EF8CF26CBB4E}</a:tableStyleId>
              </a:tblPr>
              <a:tblGrid>
                <a:gridCol w="2011675"/>
                <a:gridCol w="5029200"/>
                <a:gridCol w="4233675"/>
              </a:tblGrid>
              <a:tr h="640075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</a:rPr>
                        <a:t>Member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</a:rPr>
                        <a:t>Primary contributions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11827"/>
                          </a:solidFill>
                        </a:rPr>
                        <a:t>Tools / artifacts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334155"/>
                          </a:solidFill>
                        </a:rPr>
                        <a:t>Soumil Baldota</a:t>
                      </a:r>
                    </a:p>
                    <a:p>
                      <a:r>
                        <a:rPr sz="860" b="1">
                          <a:solidFill>
                            <a:srgbClr val="334155"/>
                          </a:solidFill>
                        </a:rPr>
                        <a:t>ssb2234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Simamba mixer implementation, training loop hardening, checkpoint/export flow, paper asset generation.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mamba_ssm/modules/simamba.py</a:t>
                      </a:r>
                    </a:p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scripts/train_simamba_lm.py</a:t>
                      </a:r>
                    </a:p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scripts/generate_hpml_paper_assets.py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334155"/>
                          </a:solidFill>
                        </a:rPr>
                        <a:t>Ansen Shia</a:t>
                      </a:r>
                    </a:p>
                    <a:p>
                      <a:r>
                        <a:rPr sz="860" b="1">
                          <a:solidFill>
                            <a:srgbClr val="334155"/>
                          </a:solidFill>
                        </a:rPr>
                        <a:t>as8008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Controlled ablation plan, data preparation, validation protocol, W&amp;B run tracking, result interpretation.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prepare_slimpajama.py</a:t>
                      </a:r>
                    </a:p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run_logs/*</a:t>
                      </a:r>
                    </a:p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docs/assets/paper/*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334155"/>
                          </a:solidFill>
                        </a:rPr>
                        <a:t>David Zhang</a:t>
                      </a:r>
                    </a:p>
                    <a:p>
                      <a:r>
                        <a:rPr sz="860" b="1">
                          <a:solidFill>
                            <a:srgbClr val="334155"/>
                          </a:solidFill>
                        </a:rPr>
                        <a:t>dwz2107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Benchmark/profiling analysis, compression experiments, systems diagnosis, report/presentation synthesis.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benchmarks/*</a:t>
                      </a:r>
                    </a:p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eval_checkpoint_compression.py</a:t>
                      </a:r>
                    </a:p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docs/paper.tex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334155"/>
                          </a:solidFill>
                        </a:rPr>
                        <a:t>All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Weekly coordination, experiment triage, negative-result review, final report and presentation edits.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60" b="0">
                          <a:solidFill>
                            <a:srgbClr val="334155"/>
                          </a:solidFill>
                        </a:rPr>
                        <a:t>GitHub + W&amp;B + shared docs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15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sz="1220" b="0">
                <a:solidFill>
                  <a:srgbClr val="475569"/>
                </a:solidFill>
              </a:rPr>
              <a:t>Collaboration: recurring working sessions around V100 runs, W&amp;B dashboards, checkpoint handoffs, and paper/deck reviews. The final story was aligned around a reproducible negative result and the systems bottleneck it exposed.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12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26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sz="4400" b="1">
                <a:solidFill>
                  <a:srgbClr val="111827"/>
                </a:solidFill>
              </a:rPr>
              <a:t>Thank you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2800"/>
              <a:buFont typeface="Calibri"/>
              <a:buNone/>
            </a:pPr>
            <a:r>
              <a:rPr sz="3000" b="0">
                <a:solidFill>
                  <a:srgbClr val="475569"/>
                </a:solidFill>
              </a:rPr>
              <a:t>Questions?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400">
                <a:solidFill>
                  <a:srgbClr val="334155"/>
                </a:solidFill>
              </a:rPr>
              <a:t>GitHub: github.com/hpmls26/simamba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sz="1400">
                <a:solidFill>
                  <a:srgbClr val="334155"/>
                </a:solidFill>
              </a:rPr>
              <a:t>Tracking: Weights &amp; Biases project ssb2234-columbia/simamba</a:t>
            </a:r>
          </a:p>
          <a:p>
            <a:pPr algn="ctr"/>
            <a:r>
              <a:rPr sz="1400">
                <a:solidFill>
                  <a:srgbClr val="334155"/>
                </a:solidFill>
              </a:rPr>
              <a:t>Checkpoints: soumil1/simamba-midpoint-10m-slimpajama-500m · soumil1/mamba2-10m-slimpajama-500m</a:t>
            </a:r>
          </a:p>
        </p:txBody>
      </p:sp>
      <p:sp>
        <p:nvSpPr>
          <p:cNvPr id="203" name="Google Shape;203;p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13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sz="2700" b="1">
                <a:solidFill>
                  <a:srgbClr val="111827"/>
                </a:solidFill>
              </a:rPr>
              <a:t>Backup — Experimental Setup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7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7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100" b="0">
                <a:solidFill>
                  <a:srgbClr val="475569"/>
                </a:solidFill>
              </a:rPr>
              <a:t>Configuration used for the controlled language-model comparisons.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17"/>
          <p:cNvGraphicFramePr/>
          <p:nvPr/>
        </p:nvGraphicFramePr>
        <p:xfrm>
          <a:off x="777240" y="1783080"/>
          <a:ext cx="10652760" cy="4251960"/>
        </p:xfrm>
        <a:graphic>
          <a:graphicData uri="http://schemas.openxmlformats.org/drawingml/2006/table">
            <a:tbl>
              <a:tblPr>
                <a:noFill/>
                <a:tableStyleId>{CFC6FF0C-0B2C-470D-8E43-EF8CF26CBB4E}</a:tableStyleId>
              </a:tblPr>
              <a:tblGrid>
                <a:gridCol w="3200400"/>
                <a:gridCol w="4023350"/>
                <a:gridCol w="4050800"/>
              </a:tblGrid>
              <a:tr h="411475">
                <a:tc>
                  <a:txBody>
                    <a:bodyPr/>
                    <a:lstStyle/>
                    <a:p>
                      <a:r>
                        <a:rPr sz="940" b="1">
                          <a:solidFill>
                            <a:srgbClr val="111827"/>
                          </a:solidFill>
                        </a:rPr>
                        <a:t>Setting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1">
                          <a:solidFill>
                            <a:srgbClr val="111827"/>
                          </a:solidFill>
                        </a:rPr>
                        <a:t>Baseline/control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1">
                          <a:solidFill>
                            <a:srgbClr val="111827"/>
                          </a:solidFill>
                        </a:rPr>
                        <a:t>Simamba runs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334155"/>
                          </a:solidFill>
                        </a:rPr>
                        <a:t>Model family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Mamba2 or matched Simamba trapezoid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Simamba Simpson / Simpson+midpoint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334155"/>
                          </a:solidFill>
                        </a:rPr>
                        <a:t>Shape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8 layers, d_model=160, d_state=64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same; d_inner=320, 10 heads, headdim=32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334155"/>
                          </a:solidFill>
                        </a:rPr>
                        <a:t>Training data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SlimPajama 500M train / 50M val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same tokenized memmaps and fixed val spans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334155"/>
                          </a:solidFill>
                        </a:rPr>
                        <a:t>Batch / sequence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global batch 64, micro-batch 8, seq_len 128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same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334155"/>
                          </a:solidFill>
                        </a:rPr>
                        <a:t>Optimizer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AdamW, weight decay 0.1, cosine decay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same; fp32 master params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334155"/>
                          </a:solidFill>
                        </a:rPr>
                        <a:t>Hardware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single Tesla V100-SXM2 16GB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same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r>
                        <a:rPr sz="840" b="1">
                          <a:solidFill>
                            <a:srgbClr val="334155"/>
                          </a:solidFill>
                        </a:rPr>
                        <a:t>Evaluation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best/final val loss, train throughput, grad norms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334155"/>
                          </a:solidFill>
                        </a:rPr>
                        <a:t>plus SISO benchmark and compression perturbations</a:t>
                      </a:r>
                    </a:p>
                  </a:txBody>
                  <a:tcPr marT="27432" marB="27432" marR="45720" marL="4572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sz="1000" b="0">
                <a:solidFill>
                  <a:srgbClr val="475569"/>
                </a:solidFill>
              </a:rPr>
              <a:t>14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