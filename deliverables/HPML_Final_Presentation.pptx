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comments+xml" PartName="/ppt/comments/comment2.xml"/>
  <Override ContentType="application/vnd.openxmlformats-officedocument.presentationml.comments+xml" PartName="/ppt/comments/comment5.xml"/>
  <Override ContentType="application/vnd.openxmlformats-officedocument.presentationml.comments+xml" PartName="/ppt/comments/comment4.xml"/>
  <Override ContentType="application/vnd.openxmlformats-officedocument.presentationml.comments+xml" PartName="/ppt/comments/comment3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y="6858000" cx="12192000"/>
  <p:notesSz cx="6858000" cy="12192000"/>
  <p:embeddedFontLst>
    <p:embeddedFont>
      <p:font typeface="Roboto Mono"/>
      <p:regular r:id="rId26"/>
      <p:bold r:id="rId27"/>
      <p:italic r:id="rId28"/>
      <p:boldItalic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4" name="Ansen Shia"/>
  <p:cmAuthor clrIdx="1" id="1" initials="" lastIdx="1" name="Soumil Sudhir Baldota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0D32D9C-967E-4859-AB66-26DDD0C78D5D}">
  <a:tblStyle styleId="{20D32D9C-967E-4859-AB66-26DDD0C78D5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4A5298A6-5DF3-4435-83CB-122B3C467FDF}" styleName="Table_1">
    <a:wholeTbl>
      <a:tcTxStyle b="off" i="off">
        <a:font>
          <a:latin typeface="Arial"/>
          <a:ea typeface="Arial"/>
          <a:cs typeface="Arial"/>
        </a:font>
        <a:srgbClr val="000000"/>
      </a:tcTx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commentAuthors" Target="commentAuthors.xml"/><Relationship Id="rId9" Type="http://schemas.openxmlformats.org/officeDocument/2006/relationships/slide" Target="slides/slide3.xml"/><Relationship Id="rId26" Type="http://schemas.openxmlformats.org/officeDocument/2006/relationships/font" Target="fonts/RobotoMono-regular.fntdata"/><Relationship Id="rId25" Type="http://schemas.openxmlformats.org/officeDocument/2006/relationships/slide" Target="slides/slide19.xml"/><Relationship Id="rId28" Type="http://schemas.openxmlformats.org/officeDocument/2006/relationships/font" Target="fonts/RobotoMono-italic.fntdata"/><Relationship Id="rId27" Type="http://schemas.openxmlformats.org/officeDocument/2006/relationships/font" Target="fonts/RobotoMono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RobotoMono-boldItalic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6-05-07T20:38:21.760">
    <p:pos x="6000" y="0"/>
    <p:text>1 minute</p:text>
  </p:cm>
</p:cmLst>
</file>

<file path=ppt/comments/comment2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2" dt="2026-05-07T20:38:32.736">
    <p:pos x="6000" y="0"/>
    <p:text>1 minute</p:text>
  </p:cm>
</p:cmLst>
</file>

<file path=ppt/comments/comment3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3" dt="2026-05-07T20:40:13.937">
    <p:pos x="6000" y="0"/>
    <p:text>2 minutes at 4:00-5:00 minutes</p:text>
  </p:cm>
</p:cmLst>
</file>

<file path=ppt/comments/comment4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4" dt="2026-05-07T20:37:36.459">
    <p:pos x="6000" y="0"/>
    <p:text>reach here by 7:30</p:text>
  </p:cm>
</p:cmLst>
</file>

<file path=ppt/comments/comment5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1" idx="1" dt="2026-05-06T16:16:37.101">
    <p:pos x="316" y="1123"/>
    <p:text>@dwz2107@columbia.edu add your contributions here.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 aim to accelerate inference for the Mamba-3 state space model within vLLM.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That middle value helps capture curvature (how the function bends within the interval), so the integral/update is more accurate than assuming a straight-line change between endpoints.</a:t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" name="Google Shape;39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c1de8a44d_39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g3dc1de8a44d_39_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g3dc1de8a44d_39_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" name="Google Shape;73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" name="Google Shape;9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Decode step -&gt; midpoint interpolation since we’re calculating one extra step so the decode is slightly slower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Prefill memory: our kernel isn’t as optimized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For validation loss this is what we got</a:t>
            </a:r>
            <a:endParaRPr/>
          </a:p>
        </p:txBody>
      </p:sp>
      <p:sp>
        <p:nvSpPr>
          <p:cNvPr id="106" name="Google Shape;10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dc25b18196_0_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5" name="Google Shape;125;g3dc25b18196_0_1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6" name="Google Shape;126;g3dc25b18196_0_1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9a9ee7aecf_0_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7" name="Google Shape;137;g39a9ee7aecf_0_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The prefill path is currently not competitive because the implementation does not yet use a fully fused/optimized kernel pipeline. The slowdown is dominated by kernel-launch and memory-access overhead rather than the numerical cost of Simpson’s discretization itself.”</a:t>
            </a:r>
            <a:endParaRPr/>
          </a:p>
        </p:txBody>
      </p:sp>
      <p:sp>
        <p:nvSpPr>
          <p:cNvPr id="138" name="Google Shape;138;g39a9ee7aecf_0_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dc25b18196_0_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g3dc25b18196_0_3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51" name="Google Shape;151;g3dc25b18196_0_3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dc25b18196_0_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3dc25b18196_0_2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5" name="Google Shape;165;g3dc25b18196_0_2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9a9ee7aecf_0_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9a9ee7aecf_0_2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g39a9ee7aecf_0_2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a9ee7aecf_0_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3" name="Google Shape;183;g39a9ee7aecf_0_3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4" name="Google Shape;184;g39a9ee7aecf_0_3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9a9ee7aecf_0_7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2" name="Google Shape;192;g39a9ee7aecf_0_7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/>
              <a:t>Machine epsilon around 1.19e-7 for fp32</a:t>
            </a:r>
            <a:endParaRPr/>
          </a:p>
        </p:txBody>
      </p:sp>
      <p:sp>
        <p:nvSpPr>
          <p:cNvPr id="193" name="Google Shape;193;g39a9ee7aecf_0_7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dc25b18196_0_5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g3dc25b18196_0_5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3" name="Google Shape;203;g3dc25b18196_0_5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6" name="Google Shape;21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dc25b18196_0_6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7" name="Google Shape;227;g3dc25b18196_0_6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8" name="Google Shape;228;g3dc25b18196_0_6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9" name="Google Shape;23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dc25b18196_0_8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g3dc25b18196_0_8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50" name="Google Shape;250;g3dc25b18196_0_8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comments" Target="../comments/comment1.xml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2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5.png"/><Relationship Id="rId5" Type="http://schemas.openxmlformats.org/officeDocument/2006/relationships/image" Target="../media/image1.png"/><Relationship Id="rId6" Type="http://schemas.openxmlformats.org/officeDocument/2006/relationships/image" Target="../media/image4.png"/><Relationship Id="rId7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omments" Target="../comments/comment3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omments" Target="../comments/comment4.xml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omments" Target="../comments/comment5.xml"/><Relationship Id="rId4" Type="http://schemas.openxmlformats.org/officeDocument/2006/relationships/hyperlink" Target="http://simamba.py" TargetMode="External"/><Relationship Id="rId5" Type="http://schemas.openxmlformats.org/officeDocument/2006/relationships/hyperlink" Target="http://simamba.py" TargetMode="Externa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F26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548640" y="54864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CC4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B8BCC4"/>
                </a:solidFill>
                <a:latin typeface="Calibri"/>
                <a:ea typeface="Calibri"/>
                <a:cs typeface="Calibri"/>
                <a:sym typeface="Calibri"/>
              </a:rPr>
              <a:t>HPML Final Project  ·  Spring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548640" y="2011680"/>
            <a:ext cx="10972800" cy="128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</a:pPr>
            <a:r>
              <a:rPr b="1" lang="en-US" sz="5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SiMamba: Accelerating Mamba-3 State Space Model Inference in vLLM</a:t>
            </a:r>
            <a:endParaRPr b="1" sz="5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400"/>
              <a:buFont typeface="Calibri"/>
              <a:buNone/>
            </a:pPr>
            <a:r>
              <a:t/>
            </a:r>
            <a:endParaRPr b="1" sz="5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548640" y="3383280"/>
            <a:ext cx="109728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600">
                <a:solidFill>
                  <a:srgbClr val="475569"/>
                </a:solidFill>
              </a:rPr>
              <a:t>Reproducible negative result: Simpson-style SISO dynamics train stably, but do not beat matched trapezoid or Mamba2; decode triton kernel is near parity while prefill needs fused-kernel work.</a:t>
            </a:r>
            <a:endParaRPr i="1" sz="2000">
              <a:solidFill>
                <a:srgbClr val="B8BCC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548640" y="4572000"/>
            <a:ext cx="5486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Team - 26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CCD2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Soumil Baldota </a:t>
            </a:r>
            <a:r>
              <a:rPr b="0" i="0" lang="en-US" sz="1300" u="none" cap="none" strike="noStrike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· </a:t>
            </a:r>
            <a:r>
              <a:rPr lang="en-US" sz="1300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ssb2234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CCD2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Ansen Shia</a:t>
            </a:r>
            <a:r>
              <a:rPr b="0" i="0" lang="en-US" sz="1300" u="none" cap="none" strike="noStrike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lang="en-US" sz="1300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as8008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CCD2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David W Zhang</a:t>
            </a:r>
            <a:r>
              <a:rPr b="0" i="0" lang="en-US" sz="1300" u="none" cap="none" strike="noStrike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 · </a:t>
            </a:r>
            <a:r>
              <a:rPr lang="en-US" sz="1300">
                <a:solidFill>
                  <a:srgbClr val="C8CCD2"/>
                </a:solidFill>
                <a:latin typeface="Calibri"/>
                <a:ea typeface="Calibri"/>
                <a:cs typeface="Calibri"/>
                <a:sym typeface="Calibri"/>
              </a:rPr>
              <a:t>dwz2107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400800" y="4572000"/>
            <a:ext cx="5486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t/>
            </a:r>
            <a:endParaRPr sz="13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GitHub:  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https://github.com/orgs/hpmls26/repositories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Tracking: https://wandb.ai/ssb2234-columbia/simamba</a:t>
            </a:r>
            <a:endParaRPr sz="13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t/>
            </a:r>
            <a:endParaRPr sz="13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E939A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E939A"/>
                </a:solidFill>
                <a:latin typeface="Calibri"/>
                <a:ea typeface="Calibri"/>
                <a:cs typeface="Calibri"/>
                <a:sym typeface="Calibri"/>
              </a:rPr>
              <a:t>Dr. Kaoutar El Maghraoui  ·  Columbia University  ·  Week of May 4,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Motivation &amp; Problem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8" name="Google Shape;28;p4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" name="Google Shape;29;p4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Time budget: 1 minute.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457200" y="182880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Why this matters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●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Mamba3: state space language model designed </a:t>
            </a: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to improve</a:t>
            </a: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long context reasoning and inference efficiency compared to Transformers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●"/>
            </a:pPr>
            <a:r>
              <a:rPr b="0" i="0"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Inference efficiency for Mamba-3 State Space Models on V100 GPUs</a:t>
            </a:r>
            <a:endParaRPr b="0" i="0"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●"/>
            </a:pPr>
            <a:r>
              <a:rPr b="0" i="0"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High memory traffic and prefill latency in SISO kernels</a:t>
            </a:r>
            <a:endParaRPr b="0" i="0"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●"/>
            </a:pPr>
            <a:r>
              <a:rPr b="0" i="0"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Standard trapezoidal discretization lacks the higher-order accuracy needed for state tracking</a:t>
            </a:r>
            <a:endParaRPr b="0" i="0"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1" marL="91440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○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Simpson’s discretization: higher-order integration method that improves accuracy as it has an additional midpoint evaluation compared to trapezoidal discretization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6263640" y="182880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4"/>
          <p:cNvSpPr/>
          <p:nvPr/>
        </p:nvSpPr>
        <p:spPr>
          <a:xfrm>
            <a:off x="6263640" y="2286000"/>
            <a:ext cx="5486400" cy="3657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Accelerate Mamba-3 SISO inference by replacing width-2 trapezoidal updates with width-3 Simpson-inspired discretization</a:t>
            </a:r>
            <a:endParaRPr b="0" i="1"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1"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Goal: </a:t>
            </a:r>
            <a:r>
              <a:rPr b="0" i="0"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Match or exceed trapezoidal baseline accuracy while minimizing decode-step overhead</a:t>
            </a:r>
            <a:endParaRPr b="0" i="1"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2 / </a:t>
            </a:r>
            <a:r>
              <a:rPr lang="en-US" sz="10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6" name="Google Shape;36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63650" y="3796575"/>
            <a:ext cx="4856574" cy="2324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5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Technical Approach — Model &amp; Data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43" name="Google Shape;43;p5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Time budget: ~1 min of the 3-min approach section.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457200" y="1828800"/>
            <a:ext cx="3584400" cy="4114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/>
          <p:nvPr/>
        </p:nvSpPr>
        <p:spPr>
          <a:xfrm>
            <a:off x="685800" y="2011680"/>
            <a:ext cx="312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Model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/>
          <p:nvPr/>
        </p:nvSpPr>
        <p:spPr>
          <a:xfrm>
            <a:off x="685800" y="2468880"/>
            <a:ext cx="3127200" cy="320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Architecture: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SiMamba mixer (width-3 Simpson recurrence) with MambaLMHeadModel wrapper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Parameter count: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10M shape (d_model=160, n_layer=8, headdim=32)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Framework: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PyTorch with custom Triton SISO kernels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4315968" y="1828800"/>
            <a:ext cx="3584400" cy="4114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5"/>
          <p:cNvSpPr/>
          <p:nvPr/>
        </p:nvSpPr>
        <p:spPr>
          <a:xfrm>
            <a:off x="4544568" y="2011680"/>
            <a:ext cx="312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Dataset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/>
          <p:nvPr/>
        </p:nvSpPr>
        <p:spPr>
          <a:xfrm>
            <a:off x="4544568" y="2468880"/>
            <a:ext cx="3127200" cy="320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Name: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SlimPajama-627B-DC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Size: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500M training / 50M validation token subsets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Tokenizer: </a:t>
            </a:r>
            <a:r>
              <a:rPr lang="en-US" sz="1230">
                <a:solidFill>
                  <a:srgbClr val="334155"/>
                </a:solidFill>
              </a:rPr>
              <a:t>GPT-NeoX tokenizer, uint16 memmaps</a:t>
            </a:r>
            <a:endParaRPr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License: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Apache 2.0 (standard SlimPajama)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Splits: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Fixed validation spans for deterministic evaluation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b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Sampling</a:t>
            </a:r>
            <a:r>
              <a:rPr b="1"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230">
                <a:solidFill>
                  <a:srgbClr val="334155"/>
                </a:solidFill>
              </a:rPr>
              <a:t>No-replacement training block sampling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/>
          <p:nvPr/>
        </p:nvSpPr>
        <p:spPr>
          <a:xfrm>
            <a:off x="8174736" y="1828800"/>
            <a:ext cx="3584400" cy="41148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5"/>
          <p:cNvSpPr/>
          <p:nvPr/>
        </p:nvSpPr>
        <p:spPr>
          <a:xfrm>
            <a:off x="8403336" y="2011680"/>
            <a:ext cx="31272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Hardware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5"/>
          <p:cNvSpPr/>
          <p:nvPr/>
        </p:nvSpPr>
        <p:spPr>
          <a:xfrm>
            <a:off x="8403336" y="2468880"/>
            <a:ext cx="3127200" cy="320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GPU: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Single NVIDIA V100 (16GB)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Memory: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fp32 master weights for SSM stability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Software stack:</a:t>
            </a:r>
            <a:r>
              <a:rPr b="0" lang="en-US" sz="14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 Python 3.10+, PyTorch, Triton, and EleutherAI tokenizer</a:t>
            </a:r>
            <a:endParaRPr b="0" sz="14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5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5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3 / </a:t>
            </a:r>
            <a:r>
              <a:rPr lang="en-US" sz="10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6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Technical Approach — Model &amp; Data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62" name="Google Shape;62;p6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" name="Google Shape;63;p6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6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3 / </a:t>
            </a:r>
            <a:r>
              <a:rPr lang="en-US" sz="10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5" name="Google Shape;6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93450" y="3779176"/>
            <a:ext cx="4089113" cy="2670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62862" y="2455775"/>
            <a:ext cx="3256599" cy="2412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768825" y="1528276"/>
            <a:ext cx="4359270" cy="2162599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21675" y="3926622"/>
            <a:ext cx="2917668" cy="216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9" name="Google Shape;69;p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21675" y="1548362"/>
            <a:ext cx="2863450" cy="2122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Technical Approach — Optimizations Applied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7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7" name="Google Shape;77;p7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Time budget: ~2 min. Name each optimization, give a 1-line intuition for why it should help.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7"/>
          <p:cNvSpPr/>
          <p:nvPr/>
        </p:nvSpPr>
        <p:spPr>
          <a:xfrm>
            <a:off x="457200" y="187452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7"/>
          <p:cNvSpPr/>
          <p:nvPr/>
        </p:nvSpPr>
        <p:spPr>
          <a:xfrm>
            <a:off x="960120" y="1874520"/>
            <a:ext cx="106986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Simpson-style SISO Dynamics</a:t>
            </a:r>
            <a:endParaRPr b="1" i="0" sz="20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p7"/>
          <p:cNvSpPr/>
          <p:nvPr/>
        </p:nvSpPr>
        <p:spPr>
          <a:xfrm>
            <a:off x="960120" y="2377440"/>
            <a:ext cx="10698600" cy="7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A width-3 recurrence update with a negative lag-2 term intended to provide higher-order accuracy over trapezoidal methods.</a:t>
            </a:r>
            <a:endParaRPr b="0" i="0" sz="14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7"/>
          <p:cNvSpPr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7"/>
          <p:cNvSpPr/>
          <p:nvPr/>
        </p:nvSpPr>
        <p:spPr>
          <a:xfrm>
            <a:off x="960120" y="3291840"/>
            <a:ext cx="106986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Mamba2-style Causal Local Mixing</a:t>
            </a:r>
            <a:endParaRPr b="1" i="0" sz="20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7"/>
          <p:cNvSpPr/>
          <p:nvPr/>
        </p:nvSpPr>
        <p:spPr>
          <a:xfrm>
            <a:off x="960120" y="3794760"/>
            <a:ext cx="10698600" cy="7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Adds a depthwise causal Conv1d over the x/B/C stream to account for local mixing confounds in model comparisons.</a:t>
            </a:r>
            <a:endParaRPr b="0" i="0" sz="14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7"/>
          <p:cNvSpPr/>
          <p:nvPr/>
        </p:nvSpPr>
        <p:spPr>
          <a:xfrm>
            <a:off x="457200" y="47091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7"/>
          <p:cNvSpPr/>
          <p:nvPr/>
        </p:nvSpPr>
        <p:spPr>
          <a:xfrm>
            <a:off x="960120" y="4709160"/>
            <a:ext cx="106986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FP32 Master Weight Training</a:t>
            </a:r>
            <a:endParaRPr b="1" i="0" sz="20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7"/>
          <p:cNvSpPr/>
          <p:nvPr/>
        </p:nvSpPr>
        <p:spPr>
          <a:xfrm>
            <a:off x="960120" y="5212080"/>
            <a:ext cx="10698600" cy="77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Ensures numerical stability for State Space Model (SSM) updates on V100 hardware, preventing early gradient explosions.</a:t>
            </a:r>
            <a:endParaRPr b="0" i="0" sz="14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7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7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4 / </a:t>
            </a: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Profiling Methodology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5" name="Google Shape;95;p8"/>
          <p:cNvCxnSpPr/>
          <p:nvPr/>
        </p:nvCxnSpPr>
        <p:spPr>
          <a:xfrm>
            <a:off x="457200" y="1188720"/>
            <a:ext cx="1127455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6" name="Google Shape;96;p8"/>
          <p:cNvSpPr/>
          <p:nvPr/>
        </p:nvSpPr>
        <p:spPr>
          <a:xfrm>
            <a:off x="457200" y="13258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Tools used, what </a:t>
            </a:r>
            <a:r>
              <a:rPr i="1" lang="en-US" sz="10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was</a:t>
            </a: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 measured, and how </a:t>
            </a:r>
            <a:r>
              <a:rPr i="1" lang="en-US" sz="1000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we</a:t>
            </a: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 ensured measurements are stable.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8"/>
          <p:cNvSpPr/>
          <p:nvPr/>
        </p:nvSpPr>
        <p:spPr>
          <a:xfrm>
            <a:off x="457200" y="18288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Tools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8"/>
          <p:cNvSpPr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PyTorch Profiler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NVIDIA Nsight Systems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b="0" i="0" lang="en-US" sz="15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Weights &amp; Biases for run-level tracking</a:t>
            </a:r>
            <a:endParaRPr b="0" i="0" sz="1500" u="none" cap="none" strike="noStrike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Custom benchmarking scripts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1" marL="9144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○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Simamba kernel benchmark scripts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8"/>
          <p:cNvSpPr/>
          <p:nvPr/>
        </p:nvSpPr>
        <p:spPr>
          <a:xfrm>
            <a:off x="6263640" y="182880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Metrics captured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8"/>
          <p:cNvSpPr/>
          <p:nvPr/>
        </p:nvSpPr>
        <p:spPr>
          <a:xfrm>
            <a:off x="6263640" y="2286000"/>
            <a:ext cx="5486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Validation loss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Training throughput in tokens/sec (median tail throughput)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Inference throughput in tokens/sec (prefill + decode)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Latency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1" marL="9144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○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Prefill latency (ms)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1" marL="9144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○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Decode step latency (ms)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23850" lvl="1" marL="9144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○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End-to-end latency (ms)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800"/>
              </a:spcBef>
              <a:spcAft>
                <a:spcPts val="0"/>
              </a:spcAft>
              <a:buClr>
                <a:srgbClr val="1A1A1A"/>
              </a:buClr>
              <a:buSzPts val="1500"/>
              <a:buFont typeface="Calibri"/>
              <a:buChar char="•"/>
            </a:pPr>
            <a:r>
              <a:rPr lang="en-US" sz="1500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Peak GPU Memory</a:t>
            </a:r>
            <a:endParaRPr sz="15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8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5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9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Results — Headline Numbers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9" name="Google Shape;109;p9"/>
          <p:cNvCxnSpPr/>
          <p:nvPr/>
        </p:nvCxnSpPr>
        <p:spPr>
          <a:xfrm>
            <a:off x="457200" y="1188720"/>
            <a:ext cx="1127455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" name="Google Shape;110;p9"/>
          <p:cNvSpPr/>
          <p:nvPr/>
        </p:nvSpPr>
        <p:spPr>
          <a:xfrm>
            <a:off x="457200" y="13258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lang="en-US" sz="1100">
                <a:solidFill>
                  <a:srgbClr val="475569"/>
                </a:solidFill>
              </a:rPr>
              <a:t>Headline: the Simpson hypothesis was not validated, but the controls identify why and where the system bottleneck is.</a:t>
            </a:r>
            <a:endParaRPr i="1" sz="10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9"/>
          <p:cNvSpPr/>
          <p:nvPr/>
        </p:nvSpPr>
        <p:spPr>
          <a:xfrm>
            <a:off x="457200" y="2286000"/>
            <a:ext cx="3584448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75B2A"/>
              </a:buClr>
              <a:buSzPts val="6400"/>
              <a:buFont typeface="Calibri"/>
              <a:buNone/>
            </a:pPr>
            <a:r>
              <a:rPr b="1" lang="en-US" sz="4200">
                <a:solidFill>
                  <a:srgbClr val="4C78A8"/>
                </a:solidFill>
              </a:rPr>
              <a:t>1.08×</a:t>
            </a:r>
            <a:endParaRPr b="1" sz="6400">
              <a:solidFill>
                <a:srgbClr val="C75B2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9"/>
          <p:cNvSpPr/>
          <p:nvPr/>
        </p:nvSpPr>
        <p:spPr>
          <a:xfrm>
            <a:off x="457200" y="3840480"/>
            <a:ext cx="35844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lang="en-US" sz="1500">
                <a:solidFill>
                  <a:srgbClr val="111827"/>
                </a:solidFill>
              </a:rPr>
              <a:t>decode-step overhead</a:t>
            </a:r>
            <a:endParaRPr b="1" sz="16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9"/>
          <p:cNvSpPr/>
          <p:nvPr/>
        </p:nvSpPr>
        <p:spPr>
          <a:xfrm>
            <a:off x="457200" y="4104150"/>
            <a:ext cx="3584400" cy="12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rPr lang="en-US" sz="1050">
                <a:solidFill>
                  <a:srgbClr val="475569"/>
                </a:solidFill>
              </a:rPr>
              <a:t>Simamba vs Mamba-3: 0.0173 ms vs 0.0160 ms in B4/P1024/G256. </a:t>
            </a:r>
            <a:endParaRPr sz="1050">
              <a:solidFill>
                <a:srgbClr val="47556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t/>
            </a:r>
            <a:endParaRPr sz="1050">
              <a:solidFill>
                <a:srgbClr val="47556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rPr lang="en-US" sz="1050">
                <a:solidFill>
                  <a:srgbClr val="475569"/>
                </a:solidFill>
              </a:rPr>
              <a:t>Simpson’s requires extra computation(a midpoint estimate) -&gt; 1 extra intermediate computation during the state update</a:t>
            </a:r>
            <a:endParaRPr sz="1050">
              <a:solidFill>
                <a:srgbClr val="475569"/>
              </a:solidFill>
            </a:endParaRPr>
          </a:p>
        </p:txBody>
      </p:sp>
      <p:sp>
        <p:nvSpPr>
          <p:cNvPr id="114" name="Google Shape;114;p9"/>
          <p:cNvSpPr/>
          <p:nvPr/>
        </p:nvSpPr>
        <p:spPr>
          <a:xfrm>
            <a:off x="4315968" y="2286000"/>
            <a:ext cx="3584448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75B2A"/>
              </a:buClr>
              <a:buSzPts val="6400"/>
              <a:buFont typeface="Calibri"/>
              <a:buNone/>
            </a:pPr>
            <a:r>
              <a:rPr b="1" lang="en-US" sz="4200">
                <a:solidFill>
                  <a:srgbClr val="54A24B"/>
                </a:solidFill>
              </a:rPr>
              <a:t>25.8%</a:t>
            </a:r>
            <a:endParaRPr b="1" sz="6400">
              <a:solidFill>
                <a:srgbClr val="C75B2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9"/>
          <p:cNvSpPr/>
          <p:nvPr/>
        </p:nvSpPr>
        <p:spPr>
          <a:xfrm>
            <a:off x="4315956" y="3817618"/>
            <a:ext cx="3584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lang="en-US" sz="1500">
                <a:solidFill>
                  <a:srgbClr val="111827"/>
                </a:solidFill>
              </a:rPr>
              <a:t>lower prefill peak memory</a:t>
            </a:r>
            <a:endParaRPr b="1" sz="16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9"/>
          <p:cNvSpPr/>
          <p:nvPr/>
        </p:nvSpPr>
        <p:spPr>
          <a:xfrm>
            <a:off x="4315975" y="4104150"/>
            <a:ext cx="3584400" cy="9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rPr lang="en-US" sz="1050">
                <a:solidFill>
                  <a:srgbClr val="475569"/>
                </a:solidFill>
              </a:rPr>
              <a:t>124.2 MB vs 167.4 MB in B4/P1024/G256</a:t>
            </a:r>
            <a:endParaRPr sz="1050">
              <a:solidFill>
                <a:srgbClr val="47556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t/>
            </a:r>
            <a:endParaRPr sz="1050">
              <a:solidFill>
                <a:srgbClr val="475569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rPr lang="en-US" sz="1050">
                <a:solidFill>
                  <a:srgbClr val="475569"/>
                </a:solidFill>
              </a:rPr>
              <a:t>Latency still dominates because of extra tensors allocated by Mamba models</a:t>
            </a:r>
            <a:endParaRPr i="1" sz="12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9"/>
          <p:cNvSpPr/>
          <p:nvPr/>
        </p:nvSpPr>
        <p:spPr>
          <a:xfrm>
            <a:off x="8174736" y="2286000"/>
            <a:ext cx="3584448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C75B2A"/>
              </a:buClr>
              <a:buSzPts val="6400"/>
              <a:buFont typeface="Calibri"/>
              <a:buNone/>
            </a:pPr>
            <a:r>
              <a:rPr b="1" lang="en-US" sz="4200">
                <a:solidFill>
                  <a:srgbClr val="F58518"/>
                </a:solidFill>
              </a:rPr>
              <a:t>4.9178</a:t>
            </a:r>
            <a:endParaRPr b="1" sz="6400">
              <a:solidFill>
                <a:srgbClr val="C75B2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9"/>
          <p:cNvSpPr/>
          <p:nvPr/>
        </p:nvSpPr>
        <p:spPr>
          <a:xfrm>
            <a:off x="8174736" y="3840480"/>
            <a:ext cx="35844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lang="en-US" sz="1500">
                <a:solidFill>
                  <a:srgbClr val="111827"/>
                </a:solidFill>
              </a:rPr>
              <a:t>best Simamba val loss</a:t>
            </a:r>
            <a:endParaRPr b="1" sz="1600"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9"/>
          <p:cNvSpPr/>
          <p:nvPr/>
        </p:nvSpPr>
        <p:spPr>
          <a:xfrm>
            <a:off x="8174736" y="4251960"/>
            <a:ext cx="358444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200"/>
              <a:buFont typeface="Calibri"/>
              <a:buNone/>
            </a:pPr>
            <a:r>
              <a:rPr lang="en-US" sz="1050">
                <a:solidFill>
                  <a:srgbClr val="475569"/>
                </a:solidFill>
              </a:rPr>
              <a:t>Mamba2 best: 4.8625; matched trapezoid: 4.9326</a:t>
            </a:r>
            <a:endParaRPr i="1" sz="12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9"/>
          <p:cNvSpPr/>
          <p:nvPr/>
        </p:nvSpPr>
        <p:spPr>
          <a:xfrm>
            <a:off x="457200" y="5852160"/>
            <a:ext cx="11274552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100"/>
              <a:buFont typeface="Calibri"/>
              <a:buNone/>
            </a:pPr>
            <a:r>
              <a:rPr lang="en-US" sz="1250">
                <a:solidFill>
                  <a:srgbClr val="475569"/>
                </a:solidFill>
              </a:rPr>
              <a:t>Measured on one Tesla V100 16GB. Prefill was slower than the Mamba-3 fused path, so fused-kernel work is required before production claims.</a:t>
            </a:r>
            <a:endParaRPr i="1" sz="1100">
              <a:solidFill>
                <a:srgbClr val="6B6F7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9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6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0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Results — Quality Curves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9" name="Google Shape;129;p10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0" name="Google Shape;130;p10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500M-token comparison from locally persisted W&amp;B/training histories.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0"/>
          <p:cNvSpPr/>
          <p:nvPr/>
        </p:nvSpPr>
        <p:spPr>
          <a:xfrm>
            <a:off x="7863840" y="1828800"/>
            <a:ext cx="3931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Takeaway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0"/>
          <p:cNvSpPr/>
          <p:nvPr/>
        </p:nvSpPr>
        <p:spPr>
          <a:xfrm>
            <a:off x="7863840" y="2286000"/>
            <a:ext cx="39318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Mamba2 is the strongest overall baseline.</a:t>
            </a:r>
            <a:endParaRPr/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Simpson</a:t>
            </a:r>
            <a:r>
              <a:rPr lang="en-US">
                <a:solidFill>
                  <a:srgbClr val="334155"/>
                </a:solidFill>
              </a:rPr>
              <a:t> + 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midpoint reaches the best Simamba checkpoint, but validation degrades later.</a:t>
            </a:r>
            <a:endParaRPr/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Matched trapezoid</a:t>
            </a:r>
            <a:r>
              <a:rPr lang="en-US">
                <a:solidFill>
                  <a:srgbClr val="334155"/>
                </a:solidFill>
              </a:rPr>
              <a:t>(Mamba3) 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is competitive, so the Simpson correction is not yet a win.</a:t>
            </a:r>
            <a:endParaRPr/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Gradient curves point to harder optimization from the negative lag-2 term.</a:t>
            </a:r>
            <a:endParaRPr/>
          </a:p>
        </p:txBody>
      </p:sp>
      <p:sp>
        <p:nvSpPr>
          <p:cNvPr id="133" name="Google Shape;133;p10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7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wandb_main_500m_val_loss.png" id="134" name="Google Shape;13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1786415"/>
            <a:ext cx="7132319" cy="41081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1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Profiler Evidence — Kernel Bottleneck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1" name="Google Shape;141;p11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2" name="Google Shape;142;p11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Repository SISO benchmark separates prefill from decode; this is where the implementation gap is clearest.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1"/>
          <p:cNvSpPr/>
          <p:nvPr/>
        </p:nvSpPr>
        <p:spPr>
          <a:xfrm>
            <a:off x="8297125" y="1760188"/>
            <a:ext cx="32919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What to point at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1"/>
          <p:cNvSpPr/>
          <p:nvPr/>
        </p:nvSpPr>
        <p:spPr>
          <a:xfrm>
            <a:off x="8297125" y="2286000"/>
            <a:ext cx="3748800" cy="425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Decode step is close: about 1.08</a:t>
            </a:r>
            <a:r>
              <a:rPr lang="en-US">
                <a:solidFill>
                  <a:srgbClr val="334155"/>
                </a:solidFill>
              </a:rPr>
              <a:t>x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slower than Mamba-3</a:t>
            </a:r>
            <a:endParaRPr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Prefill is not competitive: 410</a:t>
            </a:r>
            <a:r>
              <a:rPr lang="en-US">
                <a:solidFill>
                  <a:srgbClr val="334155"/>
                </a:solidFill>
              </a:rPr>
              <a:t>x - 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777</a:t>
            </a:r>
            <a:r>
              <a:rPr lang="en-US">
                <a:solidFill>
                  <a:srgbClr val="334155"/>
                </a:solidFill>
              </a:rPr>
              <a:t>x</a:t>
            </a: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slower in benchmark cases</a:t>
            </a:r>
            <a:endParaRPr b="0" i="0" u="none" cap="none" strike="noStrike">
              <a:solidFill>
                <a:srgbClr val="334155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7500" lvl="1" marL="9144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Char char="○"/>
            </a:pPr>
            <a:r>
              <a:rPr lang="en-US">
                <a:solidFill>
                  <a:srgbClr val="334155"/>
                </a:solidFill>
              </a:rPr>
              <a:t>Dominated by kernel launch and memory access overhead rather than the cost of Simpson’s discretization itself</a:t>
            </a:r>
            <a:endParaRPr>
              <a:solidFill>
                <a:srgbClr val="334155"/>
              </a:solidFill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Current path still has too much Python/memory traffic; needs a fused prefill kernel</a:t>
            </a:r>
            <a:endParaRPr>
              <a:solidFill>
                <a:srgbClr val="334155"/>
              </a:solidFill>
            </a:endParaRPr>
          </a:p>
          <a:p>
            <a:pPr indent="-31750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00"/>
              <a:buFont typeface="Arial"/>
              <a:buChar char="●"/>
            </a:pPr>
            <a:r>
              <a:rPr b="0" i="0" lang="en-US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Memory can be comparable or lower, but latency is the blocking metric.</a:t>
            </a:r>
            <a:endParaRPr/>
          </a:p>
        </p:txBody>
      </p:sp>
      <p:sp>
        <p:nvSpPr>
          <p:cNvPr id="145" name="Google Shape;145;p11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1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8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imamba_latency.png" id="147" name="Google Shape;1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2090775"/>
            <a:ext cx="7659229" cy="3545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2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Demo / Visualization — Reproducible Artifacts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4" name="Google Shape;154;p12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" name="Google Shape;155;p12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For a 1-minute demo, show the exported checkpoints and regenerate the paper figures from local run histories.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2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12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9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ummary_best_val_loss.png" id="158" name="Google Shape;158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1878473"/>
            <a:ext cx="6565985" cy="3964163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2"/>
          <p:cNvSpPr/>
          <p:nvPr/>
        </p:nvSpPr>
        <p:spPr>
          <a:xfrm>
            <a:off x="7851450" y="1828800"/>
            <a:ext cx="3395400" cy="1234500"/>
          </a:xfrm>
          <a:prstGeom prst="roundRect">
            <a:avLst>
              <a:gd fmla="val 16667" name="adj"/>
            </a:avLst>
          </a:prstGeom>
          <a:solidFill>
            <a:srgbClr val="EBF4FF"/>
          </a:solidFill>
          <a:ln cap="flat" cmpd="sng" w="13950">
            <a:solidFill>
              <a:srgbClr val="4C78A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73150" lIns="109725" spcFirstLastPara="1" rIns="109725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Exported models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soumil1/simamba-midpoint-10m-slimpajama-500m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soumil1/mamba2-10m-slimpajama-500m</a:t>
            </a:r>
            <a:endParaRPr/>
          </a:p>
        </p:txBody>
      </p:sp>
      <p:sp>
        <p:nvSpPr>
          <p:cNvPr id="160" name="Google Shape;160;p12"/>
          <p:cNvSpPr/>
          <p:nvPr/>
        </p:nvSpPr>
        <p:spPr>
          <a:xfrm>
            <a:off x="7851450" y="3246125"/>
            <a:ext cx="3395400" cy="1234500"/>
          </a:xfrm>
          <a:prstGeom prst="roundRect">
            <a:avLst>
              <a:gd fmla="val 16667" name="adj"/>
            </a:avLst>
          </a:prstGeom>
          <a:solidFill>
            <a:srgbClr val="EDF7ED"/>
          </a:solidFill>
          <a:ln cap="flat" cmpd="sng" w="13950">
            <a:solidFill>
              <a:srgbClr val="54A24B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73150" lIns="109725" spcFirstLastPara="1" rIns="109725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Serving path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vLLM Transformers backend</a:t>
            </a:r>
            <a:br>
              <a:rPr b="0" i="0" lang="en-US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--trust-remote-code --model-impl transformers</a:t>
            </a:r>
            <a:endParaRPr/>
          </a:p>
        </p:txBody>
      </p:sp>
      <p:sp>
        <p:nvSpPr>
          <p:cNvPr id="161" name="Google Shape;161;p12"/>
          <p:cNvSpPr/>
          <p:nvPr/>
        </p:nvSpPr>
        <p:spPr>
          <a:xfrm>
            <a:off x="7851450" y="4663450"/>
            <a:ext cx="3395400" cy="1097400"/>
          </a:xfrm>
          <a:prstGeom prst="roundRect">
            <a:avLst>
              <a:gd fmla="val 16667" name="adj"/>
            </a:avLst>
          </a:prstGeom>
          <a:solidFill>
            <a:srgbClr val="FFF7ED"/>
          </a:solidFill>
          <a:ln cap="flat" cmpd="sng" w="13950">
            <a:solidFill>
              <a:srgbClr val="F5851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73150" lIns="109725" spcFirstLastPara="1" rIns="109725" wrap="square" tIns="73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Rebuild figures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python scripts/generate_hpml_paper_assets.py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3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Profiler Evidence — </a:t>
            </a:r>
            <a:r>
              <a:rPr b="1" lang="en-US" sz="2700">
                <a:solidFill>
                  <a:srgbClr val="111827"/>
                </a:solidFill>
              </a:rPr>
              <a:t>Prefill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8" name="Google Shape;168;p13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9" name="Google Shape;169;p13"/>
          <p:cNvSpPr/>
          <p:nvPr/>
        </p:nvSpPr>
        <p:spPr>
          <a:xfrm>
            <a:off x="556925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lang="en-US" sz="1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NSYS profiler results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3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3"/>
          <p:cNvSpPr txBox="1"/>
          <p:nvPr/>
        </p:nvSpPr>
        <p:spPr>
          <a:xfrm>
            <a:off x="7107825" y="1921050"/>
            <a:ext cx="4119600" cy="2497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>
                <a:solidFill>
                  <a:schemeClr val="dk1"/>
                </a:solidFill>
              </a:rPr>
              <a:t>Simpson is expected to be somewhat slower than trapezoid because it uses a wider recurrence and more coefficient computation 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>
                <a:solidFill>
                  <a:schemeClr val="dk1"/>
                </a:solidFill>
              </a:rPr>
              <a:t>Simamba’s prefill path is dominated by kernel fragmentation and launch overhead, not by one slow fused kernel. </a:t>
            </a:r>
            <a:endParaRPr>
              <a:solidFill>
                <a:schemeClr val="dk1"/>
              </a:solidFill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n-US">
                <a:solidFill>
                  <a:schemeClr val="dk1"/>
                </a:solidFill>
              </a:rPr>
              <a:t>Mamba-3 uses a mostly fused forward path, while Simamba launches thousands of small CUDA kernels. </a:t>
            </a:r>
            <a:endParaRPr/>
          </a:p>
        </p:txBody>
      </p:sp>
      <p:graphicFrame>
        <p:nvGraphicFramePr>
          <p:cNvPr id="172" name="Google Shape;172;p13"/>
          <p:cNvGraphicFramePr/>
          <p:nvPr/>
        </p:nvGraphicFramePr>
        <p:xfrm>
          <a:off x="674025" y="16636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{20D32D9C-967E-4859-AB66-26DDD0C78D5D}</a:tableStyleId>
              </a:tblPr>
              <a:tblGrid>
                <a:gridCol w="2493650"/>
                <a:gridCol w="905700"/>
                <a:gridCol w="811600"/>
                <a:gridCol w="1717300"/>
              </a:tblGrid>
              <a:tr h="20002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Metric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Simamba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Mamba-3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Simamba / Mamba-3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Forward NVTX wall time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242.418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8.134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29.8× slower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Total GPU kernel time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19.342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6.848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2.8× higher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GPU kernel launches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7,714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7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1102.0× more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CUDA API time, excluding sync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53.423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0.104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513.1× higher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  <a:tr h="2000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Kernel launch API time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53.416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0.097 ms</a:t>
                      </a:r>
                      <a:endParaRPr b="1" sz="12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200"/>
                        <a:t>550.7× higher</a:t>
                      </a:r>
                      <a:endParaRPr b="1" sz="12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8" name="Google Shape;178;p14"/>
          <p:cNvGraphicFramePr/>
          <p:nvPr/>
        </p:nvGraphicFramePr>
        <p:xfrm>
          <a:off x="2912438" y="5285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{20D32D9C-967E-4859-AB66-26DDD0C78D5D}</a:tableStyleId>
              </a:tblPr>
              <a:tblGrid>
                <a:gridCol w="1764100"/>
                <a:gridCol w="714325"/>
                <a:gridCol w="757575"/>
                <a:gridCol w="2164575"/>
              </a:tblGrid>
              <a:tr h="4454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Kernel group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Instances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GPU time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Share of Simamba GPU time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Elementwise multiply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4,108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11.014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57.1%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4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Elementwise add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1,798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3.775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19.6%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4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Copy / cast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516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1.288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6.7%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4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Elementwise exp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512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1.082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5.6%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cuBLAS batched GEMV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256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1.048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5.4%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4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Clamp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256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0.586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3.0%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45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/>
                        <a:t>PyTorch </a:t>
                      </a:r>
                      <a:r>
                        <a:rPr lang="en-US" sz="1100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scan_outer_dim</a:t>
                      </a:r>
                      <a:endParaRPr sz="1100">
                        <a:solidFill>
                          <a:srgbClr val="188038"/>
                        </a:solidFill>
                        <a:latin typeface="Roboto Mono"/>
                        <a:ea typeface="Roboto Mono"/>
                        <a:cs typeface="Roboto Mono"/>
                        <a:sym typeface="Roboto Mono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1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0.052 ms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0.3%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sp>
        <p:nvSpPr>
          <p:cNvPr id="179" name="Google Shape;179;p14"/>
          <p:cNvSpPr txBox="1"/>
          <p:nvPr/>
        </p:nvSpPr>
        <p:spPr>
          <a:xfrm>
            <a:off x="1510350" y="5186600"/>
            <a:ext cx="9171300" cy="7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1"/>
                </a:solidFill>
              </a:rPr>
              <a:t>About </a:t>
            </a:r>
            <a:r>
              <a:rPr b="1" lang="en-US">
                <a:solidFill>
                  <a:schemeClr val="dk1"/>
                </a:solidFill>
              </a:rPr>
              <a:t>76.7%</a:t>
            </a:r>
            <a:r>
              <a:rPr lang="en-US">
                <a:solidFill>
                  <a:schemeClr val="dk1"/>
                </a:solidFill>
              </a:rPr>
              <a:t> of Simamba GPU time is spent in unfused add/multiply kernels. The next optimization should fuse Simpson coefficient computation and the recurrent update into a Mamba-3-style kernel. </a:t>
            </a:r>
            <a:endParaRPr sz="1700"/>
          </a:p>
        </p:txBody>
      </p:sp>
      <p:sp>
        <p:nvSpPr>
          <p:cNvPr id="180" name="Google Shape;180;p14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5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lang="en-US" sz="2700">
                <a:solidFill>
                  <a:srgbClr val="111827"/>
                </a:solidFill>
              </a:rPr>
              <a:t>Profiler Evidence — VLLM Profiler</a:t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t/>
            </a:r>
            <a:endParaRPr b="1" sz="2700">
              <a:solidFill>
                <a:srgbClr val="111827"/>
              </a:solidFill>
            </a:endParaRPr>
          </a:p>
        </p:txBody>
      </p:sp>
      <p:cxnSp>
        <p:nvCxnSpPr>
          <p:cNvPr id="187" name="Google Shape;187;p15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8" name="Google Shape;188;p15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9" name="Google Shape;189;p15" title="vllm_mamba2_vs_simamba_latency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9550" y="1383820"/>
            <a:ext cx="8963369" cy="5090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lang="en-US" sz="2700">
                <a:solidFill>
                  <a:srgbClr val="111827"/>
                </a:solidFill>
              </a:rPr>
              <a:t>Kernel Correctness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96" name="Google Shape;196;p16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7" name="Google Shape;197;p16"/>
          <p:cNvSpPr/>
          <p:nvPr/>
        </p:nvSpPr>
        <p:spPr>
          <a:xfrm>
            <a:off x="7983171" y="1942625"/>
            <a:ext cx="32829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/>
              <a:t>Simamba’s custom recurrence is numerically correct based off our comparisons with a reference PyTorch implementation (FP32)</a:t>
            </a:r>
            <a:endParaRPr sz="15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</p:txBody>
      </p:sp>
      <p:sp>
        <p:nvSpPr>
          <p:cNvPr id="198" name="Google Shape;198;p16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99" name="Google Shape;199;p16"/>
          <p:cNvGraphicFramePr/>
          <p:nvPr/>
        </p:nvGraphicFramePr>
        <p:xfrm>
          <a:off x="457200" y="1726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{20D32D9C-967E-4859-AB66-26DDD0C78D5D}</a:tableStyleId>
              </a:tblPr>
              <a:tblGrid>
                <a:gridCol w="1065800"/>
                <a:gridCol w="1622525"/>
                <a:gridCol w="1368025"/>
                <a:gridCol w="1495250"/>
                <a:gridCol w="1288475"/>
              </a:tblGrid>
              <a:tr h="382775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Check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Tensor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Max abs err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Mean abs err</a:t>
                      </a:r>
                      <a:endParaRPr b="1" sz="1100"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100"/>
                        <a:t>Max rel err</a:t>
                      </a:r>
                      <a:endParaRPr b="1" sz="1100"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Forward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output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1.19e-6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8.37e-8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1.13e-3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Q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K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V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ADT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9.54e-7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1.21e-7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1.70e-6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DT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0.00e0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Simpson coeff.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8.94e-8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7.29e-9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7.34e-7</a:t>
                      </a:r>
                      <a:endParaRPr/>
                    </a:p>
                  </a:txBody>
                  <a:tcPr marT="91425" marB="91425" marR="91425" marL="91425"/>
                </a:tc>
              </a:tr>
              <a:tr h="44137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Backward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Midpoint coeff.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7.45e-8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7.85e-9</a:t>
                      </a:r>
                      <a:endParaRPr/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/>
                        <a:t>8.16e-7</a:t>
                      </a:r>
                      <a:endParaRPr/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7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Lessons Learned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6" name="Google Shape;206;p17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17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The most useful outcome is a controlled diagnosis, not a cherry-picked speedup claim.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457200" y="182880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What worked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7"/>
          <p:cNvSpPr/>
          <p:nvPr/>
        </p:nvSpPr>
        <p:spPr>
          <a:xfrm>
            <a:off x="457200" y="2286000"/>
            <a:ext cx="5486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fp32 parameters + cosine decay eliminated nonfinite skips in controlled runs</a:t>
            </a:r>
            <a:endParaRPr sz="1420">
              <a:solidFill>
                <a:srgbClr val="334155"/>
              </a:solidFill>
            </a:endParaRPr>
          </a:p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Fixed validation spans made small loss differences interpretable.</a:t>
            </a:r>
            <a:endParaRPr sz="1500"/>
          </a:p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Matched trapezoid/local-conv controls separated discretization from architecture confounds</a:t>
            </a:r>
            <a:endParaRPr sz="1420">
              <a:solidFill>
                <a:srgbClr val="334155"/>
              </a:solidFill>
            </a:endParaRPr>
          </a:p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Decode path is close enough to justify more kernel work.</a:t>
            </a:r>
            <a:endParaRPr sz="1500"/>
          </a:p>
        </p:txBody>
      </p:sp>
      <p:sp>
        <p:nvSpPr>
          <p:cNvPr id="210" name="Google Shape;210;p17"/>
          <p:cNvSpPr/>
          <p:nvPr/>
        </p:nvSpPr>
        <p:spPr>
          <a:xfrm>
            <a:off x="6263640" y="1828800"/>
            <a:ext cx="5486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What didn't work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7"/>
          <p:cNvSpPr/>
          <p:nvPr/>
        </p:nvSpPr>
        <p:spPr>
          <a:xfrm>
            <a:off x="6263640" y="2286000"/>
            <a:ext cx="5486400" cy="36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Unconstrained Simpson lag-2 correction produced noisier gradients and worse final validation</a:t>
            </a:r>
            <a:endParaRPr sz="1420">
              <a:solidFill>
                <a:srgbClr val="334155"/>
              </a:solidFill>
            </a:endParaRPr>
          </a:p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Prefill implementation is hundreds of times slower than the Mamba-3 fused path.</a:t>
            </a:r>
            <a:endParaRPr sz="1500"/>
          </a:p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Larger-model attempts were dominated by V100 memory/runtime pressure.</a:t>
            </a:r>
            <a:endParaRPr sz="1500"/>
          </a:p>
          <a:p>
            <a:pPr indent="-31877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420"/>
              <a:buFont typeface="Arial"/>
              <a:buChar char="●"/>
            </a:pP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Local mixing mattered more than the initial Mamba2</a:t>
            </a:r>
            <a:r>
              <a:rPr lang="en-US" sz="1420">
                <a:solidFill>
                  <a:srgbClr val="334155"/>
                </a:solidFill>
              </a:rPr>
              <a:t> </a:t>
            </a: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lang="en-US" sz="1420">
                <a:solidFill>
                  <a:srgbClr val="334155"/>
                </a:solidFill>
              </a:rPr>
              <a:t> </a:t>
            </a:r>
            <a:r>
              <a:rPr b="0" i="0" lang="en-US" sz="142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Simamba comparison suggested.</a:t>
            </a:r>
            <a:endParaRPr sz="1500"/>
          </a:p>
        </p:txBody>
      </p:sp>
      <p:sp>
        <p:nvSpPr>
          <p:cNvPr id="212" name="Google Shape;212;p17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7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10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8"/>
          <p:cNvSpPr/>
          <p:nvPr/>
        </p:nvSpPr>
        <p:spPr>
          <a:xfrm>
            <a:off x="457200" y="502920"/>
            <a:ext cx="11274552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Next Steps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0" name="Google Shape;220;p18"/>
          <p:cNvCxnSpPr/>
          <p:nvPr/>
        </p:nvCxnSpPr>
        <p:spPr>
          <a:xfrm>
            <a:off x="457200" y="1188720"/>
            <a:ext cx="11274552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18"/>
          <p:cNvSpPr/>
          <p:nvPr/>
        </p:nvSpPr>
        <p:spPr>
          <a:xfrm>
            <a:off x="457200" y="132588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t/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8"/>
          <p:cNvSpPr/>
          <p:nvPr/>
        </p:nvSpPr>
        <p:spPr>
          <a:xfrm>
            <a:off x="457200" y="2011674"/>
            <a:ext cx="11274600" cy="45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75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Automatic prefix caching: explore how the state space formulation can yield more memory and compute efficient caching than Transformer KV caching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34290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Reparameterize or anneal the Simpson correction so the negative lag-2 term cannot dominate early training.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34290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Build a truly fused Simamba kernel plus the existing SISO path.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34290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Run multiseed 50M-token comparisons after a single-seed Simpson variant beats the matched trapezoid baseline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34290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1A1A1A"/>
                </a:solidFill>
                <a:latin typeface="Calibri"/>
                <a:ea typeface="Calibri"/>
                <a:cs typeface="Calibri"/>
                <a:sym typeface="Calibri"/>
              </a:rPr>
              <a:t>Add a V100-compatible fallback benchmark mode that bypasses Mamba-3 kernels requiring tl.make_tensor_descriptor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7500" lvl="0" marL="342900" marR="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Clr>
                <a:srgbClr val="1A1A1A"/>
              </a:buClr>
              <a:buSzPts val="1400"/>
              <a:buFont typeface="Calibri"/>
              <a:buChar char="•"/>
            </a:pPr>
            <a:r>
              <a:rPr lang="en-US">
                <a:solidFill>
                  <a:srgbClr val="334155"/>
                </a:solidFill>
              </a:rPr>
              <a:t>Add finetuning-aware int4/pruning experiments instead of one-shot perturbations.</a:t>
            </a:r>
            <a:endParaRPr>
              <a:solidFill>
                <a:srgbClr val="1A1A1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18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11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19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Teamwork &amp; Contributions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31" name="Google Shape;231;p19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" name="Google Shape;232;p19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Required contribution summary for Team 26.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33" name="Google Shape;233;p19"/>
          <p:cNvGraphicFramePr/>
          <p:nvPr/>
        </p:nvGraphicFramePr>
        <p:xfrm>
          <a:off x="502920" y="1783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{4A5298A6-5DF3-4435-83CB-122B3C467FDF}</a:tableStyleId>
              </a:tblPr>
              <a:tblGrid>
                <a:gridCol w="2011675"/>
                <a:gridCol w="5029200"/>
                <a:gridCol w="4233675"/>
              </a:tblGrid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11827"/>
                          </a:solidFill>
                        </a:rPr>
                        <a:t>Member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11827"/>
                          </a:solidFill>
                        </a:rPr>
                        <a:t>Primary contributions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50" u="none" cap="none" strike="noStrike">
                          <a:solidFill>
                            <a:srgbClr val="111827"/>
                          </a:solidFill>
                        </a:rPr>
                        <a:t>Tools / artifacts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Soumil Baldota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ssb2234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discretization experiments, fused triton kernels for forward and backward pass</a:t>
                      </a: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, </a:t>
                      </a: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training loop, throughput benchmarking.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mamba_ssm/modules/</a:t>
                      </a:r>
                      <a:r>
                        <a:rPr b="0" lang="en-US" sz="860" u="sng" cap="none" strike="noStrike">
                          <a:solidFill>
                            <a:schemeClr val="hlink"/>
                          </a:solidFill>
                          <a:hlinkClick r:id="rId4"/>
                        </a:rPr>
                        <a:t>simamba.py</a:t>
                      </a:r>
                      <a:b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</a:b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mamba_ssm/ops/triton/simamba/</a:t>
                      </a: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**</a:t>
                      </a:r>
                      <a:br>
                        <a:rPr lang="en-US" sz="860">
                          <a:solidFill>
                            <a:srgbClr val="334155"/>
                          </a:solidFill>
                        </a:rPr>
                      </a:b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Ansen Shia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as8008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vLLM integration, prefill caching, s</a:t>
                      </a: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imamba mixer implementation, corresponding tests and diagnosis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vllm/model_executor/layers/mamba/simamba_mixer.py</a:t>
                      </a:r>
                      <a:endParaRPr sz="860">
                        <a:solidFill>
                          <a:srgbClr val="334155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vllm/model_executor/layers/ops/</a:t>
                      </a:r>
                      <a:r>
                        <a:rPr lang="en-US" sz="860" u="sng">
                          <a:solidFill>
                            <a:schemeClr val="hlink"/>
                          </a:solidFill>
                          <a:hlinkClick r:id="rId5"/>
                        </a:rPr>
                        <a:t>simamba.py</a:t>
                      </a:r>
                      <a:endParaRPr sz="860">
                        <a:solidFill>
                          <a:srgbClr val="334155"/>
                        </a:solidFill>
                      </a:endParaRPr>
                    </a:p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Font typeface="Arial"/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vllm/tests/models/test_simamba.py</a:t>
                      </a:r>
                      <a:endParaRPr sz="860">
                        <a:solidFill>
                          <a:srgbClr val="334155"/>
                        </a:solidFill>
                      </a:endParaRPr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vllm/tests/models/conftest.py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David Zhang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dwz2107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Benchmark/profiling analysis</a:t>
                      </a: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 with VLLM and Nsight System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profiling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60" u="none" cap="none" strike="noStrike">
                          <a:solidFill>
                            <a:srgbClr val="334155"/>
                          </a:solidFill>
                        </a:rPr>
                        <a:t>All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Weekly coordination, </a:t>
                      </a:r>
                      <a:r>
                        <a:rPr lang="en-US" sz="860">
                          <a:solidFill>
                            <a:srgbClr val="334155"/>
                          </a:solidFill>
                        </a:rPr>
                        <a:t>result interpretation, </a:t>
                      </a: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experiment triage, negative-result review, final report and presentation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60" u="none" cap="none" strike="noStrike">
                          <a:solidFill>
                            <a:srgbClr val="334155"/>
                          </a:solidFill>
                        </a:rPr>
                        <a:t>GitHub + W&amp;B + shared docs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34" name="Google Shape;234;p19"/>
          <p:cNvSpPr/>
          <p:nvPr/>
        </p:nvSpPr>
        <p:spPr>
          <a:xfrm>
            <a:off x="457200" y="5897880"/>
            <a:ext cx="112746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100"/>
              <a:buFont typeface="Calibri"/>
              <a:buNone/>
            </a:pPr>
            <a:r>
              <a:rPr b="0" i="0" lang="en-US" sz="122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Collaboration: recurring working sessions around V100 runs, W&amp;B dashboards, checkpoint handoffs, and paper/deck reviews. The final story was aligned around a reproducible negative result and the systems bottleneck it exposed.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9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19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12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1F26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0"/>
          <p:cNvSpPr/>
          <p:nvPr/>
        </p:nvSpPr>
        <p:spPr>
          <a:xfrm>
            <a:off x="548640" y="219456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Calibri"/>
              <a:buNone/>
            </a:pPr>
            <a:r>
              <a:rPr b="1" i="0" lang="en-US" sz="6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Thank you</a:t>
            </a:r>
            <a:endParaRPr b="0" i="0" sz="6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p20"/>
          <p:cNvSpPr/>
          <p:nvPr/>
        </p:nvSpPr>
        <p:spPr>
          <a:xfrm>
            <a:off x="548640" y="320040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8BCC4"/>
              </a:buClr>
              <a:buSzPts val="2800"/>
              <a:buFont typeface="Calibri"/>
              <a:buNone/>
            </a:pPr>
            <a:r>
              <a:rPr b="0" i="1" lang="en-US" sz="2800" u="none" cap="none" strike="noStrike">
                <a:solidFill>
                  <a:srgbClr val="B8BCC4"/>
                </a:solidFill>
                <a:latin typeface="Calibri"/>
                <a:ea typeface="Calibri"/>
                <a:cs typeface="Calibri"/>
                <a:sym typeface="Calibri"/>
              </a:rPr>
              <a:t>Questions?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20"/>
          <p:cNvSpPr/>
          <p:nvPr/>
        </p:nvSpPr>
        <p:spPr>
          <a:xfrm>
            <a:off x="548640" y="4572000"/>
            <a:ext cx="109728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GitHub: github.com/hpmls26/simamba</a:t>
            </a:r>
            <a:endParaRPr sz="1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Tracking: https://wandb.ai/ssb2234-columbia/simamba</a:t>
            </a:r>
            <a:endParaRPr sz="1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E939A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8E939A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20"/>
          <p:cNvSpPr/>
          <p:nvPr/>
        </p:nvSpPr>
        <p:spPr>
          <a:xfrm>
            <a:off x="6245352" y="653796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E939A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8E939A"/>
                </a:solidFill>
                <a:latin typeface="Calibri"/>
                <a:ea typeface="Calibri"/>
                <a:cs typeface="Calibri"/>
                <a:sym typeface="Calibri"/>
              </a:rPr>
              <a:t>13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1"/>
          <p:cNvSpPr/>
          <p:nvPr/>
        </p:nvSpPr>
        <p:spPr>
          <a:xfrm>
            <a:off x="457200" y="502920"/>
            <a:ext cx="112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3200"/>
              <a:buFont typeface="Calibri"/>
              <a:buNone/>
            </a:pPr>
            <a:r>
              <a:rPr b="1" i="0" lang="en-US" sz="2700" u="none" cap="none" strike="noStrike">
                <a:solidFill>
                  <a:srgbClr val="111827"/>
                </a:solidFill>
                <a:latin typeface="Arial"/>
                <a:ea typeface="Arial"/>
                <a:cs typeface="Arial"/>
                <a:sym typeface="Arial"/>
              </a:rPr>
              <a:t>Backup — Experimental Setup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53" name="Google Shape;253;p21"/>
          <p:cNvCxnSpPr/>
          <p:nvPr/>
        </p:nvCxnSpPr>
        <p:spPr>
          <a:xfrm>
            <a:off x="457200" y="1188720"/>
            <a:ext cx="11274600" cy="0"/>
          </a:xfrm>
          <a:prstGeom prst="straightConnector1">
            <a:avLst/>
          </a:prstGeom>
          <a:noFill/>
          <a:ln cap="flat" cmpd="sng" w="9525">
            <a:solidFill>
              <a:srgbClr val="D9D9D9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4" name="Google Shape;254;p21"/>
          <p:cNvSpPr/>
          <p:nvPr/>
        </p:nvSpPr>
        <p:spPr>
          <a:xfrm>
            <a:off x="457200" y="1325880"/>
            <a:ext cx="109728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1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Configuration used for the controlled language-model comparisons.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55" name="Google Shape;255;p21"/>
          <p:cNvGraphicFramePr/>
          <p:nvPr/>
        </p:nvGraphicFramePr>
        <p:xfrm>
          <a:off x="777240" y="178308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{4A5298A6-5DF3-4435-83CB-122B3C467FDF}</a:tableStyleId>
              </a:tblPr>
              <a:tblGrid>
                <a:gridCol w="3200400"/>
                <a:gridCol w="4023350"/>
                <a:gridCol w="4050800"/>
              </a:tblGrid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111827"/>
                          </a:solidFill>
                        </a:rPr>
                        <a:t>Setting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111827"/>
                          </a:solidFill>
                        </a:rPr>
                        <a:t>Baseline/control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940" u="none" cap="none" strike="noStrike">
                          <a:solidFill>
                            <a:srgbClr val="111827"/>
                          </a:solidFill>
                        </a:rPr>
                        <a:t>Simamba runs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2F2F2"/>
                    </a:solidFill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Model family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Mamba2 or matched Simamba trapezoid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Simamba Simpson / Simpson+midpoint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Shape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8 layers, d_model=160, d_state=64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same; d_inner=320, 10 heads, headdim=32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Training data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SlimPajama 500M train / 50M val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same tokenized memmaps and fixed val spans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Batch / sequence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global batch 64, micro-batch 8, seq_len 128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same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Optimizer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AdamW, weight decay 0.1, cosine decay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same; fp32 master params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Hardware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single Tesla V100-SXM2 16GB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same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11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840" u="none" cap="none" strike="noStrike">
                          <a:solidFill>
                            <a:srgbClr val="334155"/>
                          </a:solidFill>
                        </a:rPr>
                        <a:t>Evaluation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best/final val loss, train throughput, grad norms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US" sz="840" u="none" cap="none" strike="noStrike">
                          <a:solidFill>
                            <a:srgbClr val="334155"/>
                          </a:solidFill>
                        </a:rPr>
                        <a:t>plus SISO benchmark and compression perturbations</a:t>
                      </a:r>
                      <a:endParaRPr/>
                    </a:p>
                  </a:txBody>
                  <a:tcPr marT="27425" marB="27425" marR="45725" marL="45725">
                    <a:lnL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D9D9D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56" name="Google Shape;256;p21"/>
          <p:cNvSpPr/>
          <p:nvPr/>
        </p:nvSpPr>
        <p:spPr>
          <a:xfrm>
            <a:off x="457200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6B6F76"/>
                </a:solidFill>
                <a:latin typeface="Calibri"/>
                <a:ea typeface="Calibri"/>
                <a:cs typeface="Calibri"/>
                <a:sym typeface="Calibri"/>
              </a:rPr>
              <a:t>HPML · Spring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6245352" y="6537960"/>
            <a:ext cx="5486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6F76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75569"/>
                </a:solidFill>
                <a:latin typeface="Arial"/>
                <a:ea typeface="Arial"/>
                <a:cs typeface="Arial"/>
                <a:sym typeface="Arial"/>
              </a:rPr>
              <a:t>14 / 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